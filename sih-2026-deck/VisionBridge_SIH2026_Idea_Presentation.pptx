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Lead with the problem, then the phone. The confidence gate is the core idea: the app would rather say it is unsure and fetch a human than guess.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Android app → Supabase Edge Functions → Gemini → spoken answer. The Gemini key stays server-side; Live sessions use ephemeral tokens. 41 on-device voice rules mean most commands never touch the network.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14 assistants reachable from the home screen and from the wake word. Five innovations, all running in the current build — none of this slide is future scope.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Tell the bus-stop story in one breath. Impact is qualitative on purpose: no invented statistics, and the limits are stated on the slide.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Feasible because everything is a managed service or a platform API — no model training, no dataset, no GPU. Future scope is clearly fenced off from what is built.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statement 26196 · Student Innovation · MedTech/BioTech/HealthTech · Software. VisionBridge is now a native Android app (Kotlin + Jetpack Compose), not a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49.png"/><Relationship Id="rId16" Type="http://schemas.openxmlformats.org/officeDocument/2006/relationships/image" Target="../media/image50.png"/><Relationship Id="rId17" Type="http://schemas.openxmlformats.org/officeDocument/2006/relationships/image" Target="../media/image51.png"/><Relationship Id="rId18" Type="http://schemas.openxmlformats.org/officeDocument/2006/relationships/image" Target="../media/image52.png"/><Relationship Id="rId19" Type="http://schemas.openxmlformats.org/officeDocument/2006/relationships/image" Target="../media/image53.png"/><Relationship Id="rId20" Type="http://schemas.openxmlformats.org/officeDocument/2006/relationships/image" Target="../media/image54.png"/><Relationship Id="rId21" Type="http://schemas.openxmlformats.org/officeDocument/2006/relationships/image" Target="../media/image55.png"/><Relationship Id="rId22" Type="http://schemas.openxmlformats.org/officeDocument/2006/relationships/image" Target="../media/image5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6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9.png"/><Relationship Id="rId12" Type="http://schemas.openxmlformats.org/officeDocument/2006/relationships/image" Target="../media/image20.png"/><Relationship Id="rId13" Type="http://schemas.openxmlformats.org/officeDocument/2006/relationships/image" Target="../media/image1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57.png"/><Relationship Id="rId24" Type="http://schemas.openxmlformats.org/officeDocument/2006/relationships/image" Target="../media/image58.png"/><Relationship Id="rId25" Type="http://schemas.openxmlformats.org/officeDocument/2006/relationships/image" Target="../media/image59.png"/><Relationship Id="rId26" Type="http://schemas.openxmlformats.org/officeDocument/2006/relationships/image" Target="../media/image60.png"/><Relationship Id="rId27" Type="http://schemas.openxmlformats.org/officeDocument/2006/relationships/image" Target="../media/image61.png"/><Relationship Id="rId28" Type="http://schemas.openxmlformats.org/officeDocument/2006/relationships/image" Target="../media/image62.png"/><Relationship Id="rId29" Type="http://schemas.openxmlformats.org/officeDocument/2006/relationships/image" Target="../media/image63.png"/><Relationship Id="rId30" Type="http://schemas.openxmlformats.org/officeDocument/2006/relationships/image" Target="../media/image64.png"/><Relationship Id="rId31" Type="http://schemas.openxmlformats.org/officeDocument/2006/relationships/image" Target="../media/image6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11.png"/><Relationship Id="rId9" Type="http://schemas.openxmlformats.org/officeDocument/2006/relationships/image" Target="../media/image29.png"/><Relationship Id="rId10" Type="http://schemas.openxmlformats.org/officeDocument/2006/relationships/image" Target="../media/image34.png"/><Relationship Id="rId11" Type="http://schemas.openxmlformats.org/officeDocument/2006/relationships/image" Target="../media/image9.png"/><Relationship Id="rId12" Type="http://schemas.openxmlformats.org/officeDocument/2006/relationships/image" Target="../media/image3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Relationship Id="rId23" Type="http://schemas.openxmlformats.org/officeDocument/2006/relationships/image" Target="../media/image76.png"/><Relationship Id="rId24" Type="http://schemas.openxmlformats.org/officeDocument/2006/relationships/image" Target="../media/image77.png"/><Relationship Id="rId25" Type="http://schemas.openxmlformats.org/officeDocument/2006/relationships/image" Target="../media/image78.png"/><Relationship Id="rId26" Type="http://schemas.openxmlformats.org/officeDocument/2006/relationships/image" Target="../media/image79.png"/><Relationship Id="rId27" Type="http://schemas.openxmlformats.org/officeDocument/2006/relationships/image" Target="../media/image80.png"/><Relationship Id="rId28" Type="http://schemas.openxmlformats.org/officeDocument/2006/relationships/image" Target="../media/image81.png"/><Relationship Id="rId29" Type="http://schemas.openxmlformats.org/officeDocument/2006/relationships/image" Target="../media/image82.png"/><Relationship Id="rId30" Type="http://schemas.openxmlformats.org/officeDocument/2006/relationships/image" Target="../media/image83.png"/><Relationship Id="rId31" Type="http://schemas.openxmlformats.org/officeDocument/2006/relationships/image" Target="../media/image84.png"/><Relationship Id="rId32" Type="http://schemas.openxmlformats.org/officeDocument/2006/relationships/image" Target="../media/image85.png"/><Relationship Id="rId33" Type="http://schemas.openxmlformats.org/officeDocument/2006/relationships/image" Target="../media/image86.png"/><Relationship Id="rId34" Type="http://schemas.openxmlformats.org/officeDocument/2006/relationships/image" Target="../media/image8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19.png"/><Relationship Id="rId8" Type="http://schemas.openxmlformats.org/officeDocument/2006/relationships/image" Target="../media/image39.png"/><Relationship Id="rId9" Type="http://schemas.openxmlformats.org/officeDocument/2006/relationships/image" Target="../media/image11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png"/><Relationship Id="rId15" Type="http://schemas.openxmlformats.org/officeDocument/2006/relationships/image" Target="../media/image91.png"/><Relationship Id="rId16" Type="http://schemas.openxmlformats.org/officeDocument/2006/relationships/image" Target="../media/image81.png"/><Relationship Id="rId17" Type="http://schemas.openxmlformats.org/officeDocument/2006/relationships/image" Target="../media/image92.png"/><Relationship Id="rId18" Type="http://schemas.openxmlformats.org/officeDocument/2006/relationships/image" Target="../media/image93.png"/><Relationship Id="rId19" Type="http://schemas.openxmlformats.org/officeDocument/2006/relationships/image" Target="../media/image94.png"/><Relationship Id="rId20" Type="http://schemas.openxmlformats.org/officeDocument/2006/relationships/image" Target="../media/image95.png"/><Relationship Id="rId21" Type="http://schemas.openxmlformats.org/officeDocument/2006/relationships/image" Target="../media/image96.png"/><Relationship Id="rId22" Type="http://schemas.openxmlformats.org/officeDocument/2006/relationships/image" Target="../media/image9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2.png"/><Relationship Id="rId5" Type="http://schemas.openxmlformats.org/officeDocument/2006/relationships/image" Target="../media/image30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24.png"/><Relationship Id="rId9" Type="http://schemas.openxmlformats.org/officeDocument/2006/relationships/image" Target="../media/image45.png"/><Relationship Id="rId10" Type="http://schemas.openxmlformats.org/officeDocument/2006/relationships/hyperlink" Target="https://github.com/shailesh-pande01/visionbridge-ai" TargetMode="External"/><Relationship Id="rId11" Type="http://schemas.openxmlformats.org/officeDocument/2006/relationships/hyperlink" Target="https://visionbridge-ai.vercel.app/" TargetMode="External"/><Relationship Id="rId12" Type="http://schemas.openxmlformats.org/officeDocument/2006/relationships/image" Target="../media/image46.png"/><Relationship Id="rId13" Type="http://schemas.openxmlformats.org/officeDocument/2006/relationships/hyperlink" Target="https://youtu.be/ok7P_i5SeR4?si=TahYgV2iWjbvrgxT" TargetMode="External"/><Relationship Id="rId14" Type="http://schemas.openxmlformats.org/officeDocument/2006/relationships/image" Target="../media/image98.png"/><Relationship Id="rId15" Type="http://schemas.openxmlformats.org/officeDocument/2006/relationships/image" Target="../media/image99.png"/><Relationship Id="rId16" Type="http://schemas.openxmlformats.org/officeDocument/2006/relationships/image" Target="../media/image100.png"/><Relationship Id="rId17" Type="http://schemas.openxmlformats.org/officeDocument/2006/relationships/image" Target="../media/image101.png"/><Relationship Id="rId18" Type="http://schemas.openxmlformats.org/officeDocument/2006/relationships/image" Target="../media/image102.png"/><Relationship Id="rId19" Type="http://schemas.openxmlformats.org/officeDocument/2006/relationships/image" Target="../media/image103.png"/><Relationship Id="rId20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31286" y="870000"/>
            <a:ext cx="5924550" cy="420000"/>
          </a:xfrm>
        </p:spPr>
        <p:txBody>
          <a:bodyPr wrap="square"/>
          <a:lstStyle/>
          <a:p>
            <a:pPr algn="l"/>
            <a:r>
              <a:rPr sz="1400" b="1" spc="220">
                <a:solidFill>
                  <a:srgbClr val="6B7C93"/>
                </a:solidFill>
                <a:latin typeface="Calibri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026" descr="ap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86" y="1330000"/>
            <a:ext cx="1420146" cy="760000"/>
          </a:xfrm>
          <a:prstGeom prst="rect">
            <a:avLst/>
          </a:prstGeom>
        </p:spPr>
      </p:pic>
      <p:sp>
        <p:nvSpPr>
          <p:cNvPr id="1028" name="TextBox 1027"/>
          <p:cNvSpPr txBox="1"/>
          <p:nvPr/>
        </p:nvSpPr>
        <p:spPr>
          <a:xfrm>
            <a:off x="1951286" y="1330000"/>
            <a:ext cx="46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23A6B"/>
                </a:solidFill>
                <a:latin typeface="Calibri"/>
              </a:rPr>
              <a:t>VisionBridge</a:t>
            </a:r>
          </a:p>
          <a:p>
            <a:pPr algn="l">
              <a:spcAft>
                <a:spcPts val="0"/>
              </a:spcAft>
            </a:pPr>
            <a:r>
              <a:rPr sz="1050" b="1" spc="130">
                <a:solidFill>
                  <a:srgbClr val="2563EB"/>
                </a:solidFill>
                <a:latin typeface="Calibri"/>
              </a:rPr>
              <a:t>NATIVE ANDROID ACCESSIBILITY COMPANION</a:t>
            </a:r>
          </a:p>
        </p:txBody>
      </p:sp>
      <p:sp>
        <p:nvSpPr>
          <p:cNvPr id="1029" name="Rounded Rectangle 1028"/>
          <p:cNvSpPr/>
          <p:nvPr/>
        </p:nvSpPr>
        <p:spPr>
          <a:xfrm>
            <a:off x="331286" y="2340000"/>
            <a:ext cx="6300000" cy="101000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23A6B"/>
              </a:gs>
              <a:gs pos="100000">
                <a:srgbClr val="1F5FA9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581286" y="2450000"/>
            <a:ext cx="5800000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An AI-powered Android companion </a:t>
            </a:r>
            <a:r>
              <a:rPr sz="1450" b="0">
                <a:solidFill>
                  <a:srgbClr val="D6E4F5"/>
                </a:solidFill>
                <a:latin typeface="Calibri"/>
              </a:rPr>
              <a:t>that helps people with low vision read, understand, navigate and stay safe — and hands over to a real volunteer the moment the AI is not sure.</a:t>
            </a:r>
          </a:p>
        </p:txBody>
      </p:sp>
      <p:sp>
        <p:nvSpPr>
          <p:cNvPr id="1031" name="Rounded Rectangle 1030"/>
          <p:cNvSpPr/>
          <p:nvPr/>
        </p:nvSpPr>
        <p:spPr>
          <a:xfrm>
            <a:off x="331286" y="3560000"/>
            <a:ext cx="3050000" cy="470000"/>
          </a:xfrm>
          <a:prstGeom prst="roundRect">
            <a:avLst>
              <a:gd name="adj" fmla="val 16000"/>
            </a:avLst>
          </a:prstGeom>
          <a:solidFill>
            <a:srgbClr val="F1F5FA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501286" y="3638000"/>
            <a:ext cx="275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90">
                <a:solidFill>
                  <a:srgbClr val="6B7C93"/>
                </a:solidFill>
                <a:latin typeface="Calibri"/>
              </a:rPr>
              <a:t>PROBLEM STATEMENT ID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501286" y="3792000"/>
            <a:ext cx="275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B2A3F"/>
                </a:solidFill>
                <a:latin typeface="Calibri"/>
              </a:rPr>
              <a:t>26196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3581286" y="3560000"/>
            <a:ext cx="3050000" cy="470000"/>
          </a:xfrm>
          <a:prstGeom prst="roundRect">
            <a:avLst>
              <a:gd name="adj" fmla="val 16000"/>
            </a:avLst>
          </a:prstGeom>
          <a:solidFill>
            <a:srgbClr val="F1F5FA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5" name="TextBox 1034"/>
          <p:cNvSpPr txBox="1"/>
          <p:nvPr/>
        </p:nvSpPr>
        <p:spPr>
          <a:xfrm>
            <a:off x="3751286" y="3638000"/>
            <a:ext cx="275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90">
                <a:solidFill>
                  <a:srgbClr val="6B7C93"/>
                </a:solidFill>
                <a:latin typeface="Calibri"/>
              </a:rPr>
              <a:t>PROBLEM STATEMENT TITLE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3751286" y="3792000"/>
            <a:ext cx="275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B2A3F"/>
                </a:solidFill>
                <a:latin typeface="Calibri"/>
              </a:rPr>
              <a:t>Student Innovation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331286" y="4110000"/>
            <a:ext cx="3050000" cy="470000"/>
          </a:xfrm>
          <a:prstGeom prst="roundRect">
            <a:avLst>
              <a:gd name="adj" fmla="val 16000"/>
            </a:avLst>
          </a:prstGeom>
          <a:solidFill>
            <a:srgbClr val="F1F5FA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501286" y="4188000"/>
            <a:ext cx="275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90">
                <a:solidFill>
                  <a:srgbClr val="6B7C93"/>
                </a:solidFill>
                <a:latin typeface="Calibri"/>
              </a:rPr>
              <a:t>THEME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501286" y="4342000"/>
            <a:ext cx="275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B2A3F"/>
                </a:solidFill>
                <a:latin typeface="Calibri"/>
              </a:rPr>
              <a:t>MedTech / BioTech / HealthTech</a:t>
            </a:r>
          </a:p>
        </p:txBody>
      </p:sp>
      <p:sp>
        <p:nvSpPr>
          <p:cNvPr id="1040" name="Rounded Rectangle 1039"/>
          <p:cNvSpPr/>
          <p:nvPr/>
        </p:nvSpPr>
        <p:spPr>
          <a:xfrm>
            <a:off x="3581286" y="4110000"/>
            <a:ext cx="3050000" cy="470000"/>
          </a:xfrm>
          <a:prstGeom prst="roundRect">
            <a:avLst>
              <a:gd name="adj" fmla="val 16000"/>
            </a:avLst>
          </a:prstGeom>
          <a:solidFill>
            <a:srgbClr val="F1F5FA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3751286" y="4188000"/>
            <a:ext cx="275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90">
                <a:solidFill>
                  <a:srgbClr val="6B7C93"/>
                </a:solidFill>
                <a:latin typeface="Calibri"/>
              </a:rPr>
              <a:t>PS CATEGORY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3751286" y="4342000"/>
            <a:ext cx="275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B2A3F"/>
                </a:solidFill>
                <a:latin typeface="Calibri"/>
              </a:rPr>
              <a:t>Software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331286" y="4660000"/>
            <a:ext cx="3050000" cy="470000"/>
          </a:xfrm>
          <a:prstGeom prst="roundRect">
            <a:avLst>
              <a:gd name="adj" fmla="val 16000"/>
            </a:avLst>
          </a:prstGeom>
          <a:solidFill>
            <a:srgbClr val="F1F5FA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4" name="TextBox 1043"/>
          <p:cNvSpPr txBox="1"/>
          <p:nvPr/>
        </p:nvSpPr>
        <p:spPr>
          <a:xfrm>
            <a:off x="501286" y="4738000"/>
            <a:ext cx="275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90">
                <a:solidFill>
                  <a:srgbClr val="6B7C93"/>
                </a:solidFill>
                <a:latin typeface="Calibri"/>
              </a:rPr>
              <a:t>TEAM ID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501286" y="4892000"/>
            <a:ext cx="275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B2A3F"/>
                </a:solidFill>
                <a:latin typeface="Calibri"/>
              </a:rPr>
              <a:t>—</a:t>
            </a:r>
          </a:p>
        </p:txBody>
      </p:sp>
      <p:sp>
        <p:nvSpPr>
          <p:cNvPr id="1046" name="Rounded Rectangle 1045"/>
          <p:cNvSpPr/>
          <p:nvPr/>
        </p:nvSpPr>
        <p:spPr>
          <a:xfrm>
            <a:off x="3581286" y="4660000"/>
            <a:ext cx="3050000" cy="470000"/>
          </a:xfrm>
          <a:prstGeom prst="roundRect">
            <a:avLst>
              <a:gd name="adj" fmla="val 16000"/>
            </a:avLst>
          </a:prstGeom>
          <a:solidFill>
            <a:srgbClr val="F1F5FA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7" name="TextBox 1046"/>
          <p:cNvSpPr txBox="1"/>
          <p:nvPr/>
        </p:nvSpPr>
        <p:spPr>
          <a:xfrm>
            <a:off x="3751286" y="4738000"/>
            <a:ext cx="275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90">
                <a:solidFill>
                  <a:srgbClr val="6B7C93"/>
                </a:solidFill>
                <a:latin typeface="Calibri"/>
              </a:rPr>
              <a:t>TEAM NAME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3751286" y="4892000"/>
            <a:ext cx="275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B2A3F"/>
                </a:solidFill>
                <a:latin typeface="Calibri"/>
              </a:rPr>
              <a:t>Prime Innovators</a:t>
            </a:r>
          </a:p>
        </p:txBody>
      </p:sp>
      <p:sp>
        <p:nvSpPr>
          <p:cNvPr id="1049" name="Rounded Rectangle 1048"/>
          <p:cNvSpPr/>
          <p:nvPr/>
        </p:nvSpPr>
        <p:spPr>
          <a:xfrm>
            <a:off x="384048" y="5230000"/>
            <a:ext cx="11430000" cy="11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50" name="Picture 1049" descr="h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48" y="5265000"/>
            <a:ext cx="11310000" cy="11359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 /  PROPOSED SOLUTION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1">
                <a:solidFill>
                  <a:srgbClr val="1F497D"/>
                </a:solidFill>
                <a:latin typeface="Arial"/>
              </a:rPr>
              <a:t>Prime Innovators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Rounded Rectangle 15361"/>
          <p:cNvSpPr/>
          <p:nvPr/>
        </p:nvSpPr>
        <p:spPr>
          <a:xfrm>
            <a:off x="384048" y="1190000"/>
            <a:ext cx="11430000" cy="5000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123A6B"/>
              </a:gs>
              <a:gs pos="100000">
                <a:srgbClr val="2563E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614048" y="1190000"/>
            <a:ext cx="1097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VisionBridge</a:t>
            </a:r>
            <a:r>
              <a:rPr sz="1400" b="0">
                <a:solidFill>
                  <a:srgbClr val="D6E4F5"/>
                </a:solidFill>
                <a:latin typeface="Calibri"/>
              </a:rPr>
              <a:t>   —   one Android app that lets a person with low vision read, understand, move and ask for help, using only their voice.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84048" y="1780000"/>
            <a:ext cx="400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23A6B"/>
                </a:solidFill>
                <a:latin typeface="Calibri"/>
              </a:rPr>
              <a:t>THE PROBLEM  ·  FIVE EVERYDAY MOMENTS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660000" y="1780000"/>
            <a:ext cx="600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23A6B"/>
                </a:solidFill>
                <a:latin typeface="Calibri"/>
              </a:rPr>
              <a:t>THE SOLUTION  ·  VOICE + CAMERA + AI + LOCATION + PEOPLE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84048" y="2020000"/>
            <a:ext cx="3950000" cy="570000"/>
          </a:xfrm>
          <a:prstGeom prst="roundRect">
            <a:avLst>
              <a:gd name="adj" fmla="val 13000"/>
            </a:avLst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7" name="Rounded Rectangle 15366"/>
          <p:cNvSpPr/>
          <p:nvPr/>
        </p:nvSpPr>
        <p:spPr>
          <a:xfrm>
            <a:off x="384048" y="2111200"/>
            <a:ext cx="46000" cy="387600"/>
          </a:xfrm>
          <a:prstGeom prst="roundRect">
            <a:avLst>
              <a:gd name="adj" fmla="val 5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368" name="Picture 15367" descr="icon_p_rea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048" y="2155000"/>
            <a:ext cx="300000" cy="300000"/>
          </a:xfrm>
          <a:prstGeom prst="rect">
            <a:avLst/>
          </a:prstGeom>
        </p:spPr>
      </p:pic>
      <p:sp>
        <p:nvSpPr>
          <p:cNvPr id="15369" name="TextBox 15368"/>
          <p:cNvSpPr txBox="1"/>
          <p:nvPr/>
        </p:nvSpPr>
        <p:spPr>
          <a:xfrm>
            <a:off x="1024048" y="2125000"/>
            <a:ext cx="317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32626"/>
                </a:solidFill>
                <a:latin typeface="Calibri"/>
              </a:rPr>
              <a:t>Printed text has no voice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1024048" y="2325000"/>
            <a:ext cx="317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536B"/>
                </a:solidFill>
                <a:latin typeface="Calibri"/>
              </a:rPr>
              <a:t>Menus, medicine labels, bills, notices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384048" y="2665000"/>
            <a:ext cx="3950000" cy="570000"/>
          </a:xfrm>
          <a:prstGeom prst="roundRect">
            <a:avLst>
              <a:gd name="adj" fmla="val 13000"/>
            </a:avLst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384048" y="2756200"/>
            <a:ext cx="46000" cy="387600"/>
          </a:xfrm>
          <a:prstGeom prst="roundRect">
            <a:avLst>
              <a:gd name="adj" fmla="val 5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373" name="Picture 15372" descr="icon_p_bu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048" y="2800000"/>
            <a:ext cx="300000" cy="300000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1024048" y="2770000"/>
            <a:ext cx="317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32626"/>
                </a:solidFill>
                <a:latin typeface="Calibri"/>
              </a:rPr>
              <a:t>Transport is guesswork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1024048" y="2970000"/>
            <a:ext cx="317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536B"/>
                </a:solidFill>
                <a:latin typeface="Calibri"/>
              </a:rPr>
              <a:t>Which bus is this? Which platform?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84048" y="3310000"/>
            <a:ext cx="3950000" cy="570000"/>
          </a:xfrm>
          <a:prstGeom prst="roundRect">
            <a:avLst>
              <a:gd name="adj" fmla="val 13000"/>
            </a:avLst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384048" y="3401200"/>
            <a:ext cx="46000" cy="387600"/>
          </a:xfrm>
          <a:prstGeom prst="roundRect">
            <a:avLst>
              <a:gd name="adj" fmla="val 5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378" name="Picture 15377" descr="icon_p_hazar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4048" y="3445000"/>
            <a:ext cx="300000" cy="300000"/>
          </a:xfrm>
          <a:prstGeom prst="rect">
            <a:avLst/>
          </a:prstGeom>
        </p:spPr>
      </p:pic>
      <p:sp>
        <p:nvSpPr>
          <p:cNvPr id="15379" name="TextBox 15378"/>
          <p:cNvSpPr txBox="1"/>
          <p:nvPr/>
        </p:nvSpPr>
        <p:spPr>
          <a:xfrm>
            <a:off x="1024048" y="3415000"/>
            <a:ext cx="317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32626"/>
                </a:solidFill>
                <a:latin typeface="Calibri"/>
              </a:rPr>
              <a:t>Hazards give no warning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1024048" y="3615000"/>
            <a:ext cx="317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536B"/>
                </a:solidFill>
                <a:latin typeface="Calibri"/>
              </a:rPr>
              <a:t>A step, a parked scooter, an open drain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384048" y="3955000"/>
            <a:ext cx="3950000" cy="570000"/>
          </a:xfrm>
          <a:prstGeom prst="roundRect">
            <a:avLst>
              <a:gd name="adj" fmla="val 13000"/>
            </a:avLst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2" name="Rounded Rectangle 15381"/>
          <p:cNvSpPr/>
          <p:nvPr/>
        </p:nvSpPr>
        <p:spPr>
          <a:xfrm>
            <a:off x="384048" y="4046200"/>
            <a:ext cx="46000" cy="387600"/>
          </a:xfrm>
          <a:prstGeom prst="roundRect">
            <a:avLst>
              <a:gd name="adj" fmla="val 5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383" name="Picture 15382" descr="icon_p_wher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048" y="4090000"/>
            <a:ext cx="300000" cy="300000"/>
          </a:xfrm>
          <a:prstGeom prst="rect">
            <a:avLst/>
          </a:prstGeom>
        </p:spPr>
      </p:pic>
      <p:sp>
        <p:nvSpPr>
          <p:cNvPr id="15384" name="TextBox 15383"/>
          <p:cNvSpPr txBox="1"/>
          <p:nvPr/>
        </p:nvSpPr>
        <p:spPr>
          <a:xfrm>
            <a:off x="1024048" y="4060000"/>
            <a:ext cx="317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32626"/>
                </a:solidFill>
                <a:latin typeface="Calibri"/>
              </a:rPr>
              <a:t>“Where am I?”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1024048" y="4260000"/>
            <a:ext cx="317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536B"/>
                </a:solidFill>
                <a:latin typeface="Calibri"/>
              </a:rPr>
              <a:t>Street names and nearby places are invisible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384048" y="4600000"/>
            <a:ext cx="3950000" cy="570000"/>
          </a:xfrm>
          <a:prstGeom prst="roundRect">
            <a:avLst>
              <a:gd name="adj" fmla="val 13000"/>
            </a:avLst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7" name="Rounded Rectangle 15386"/>
          <p:cNvSpPr/>
          <p:nvPr/>
        </p:nvSpPr>
        <p:spPr>
          <a:xfrm>
            <a:off x="384048" y="4691200"/>
            <a:ext cx="46000" cy="387600"/>
          </a:xfrm>
          <a:prstGeom prst="roundRect">
            <a:avLst>
              <a:gd name="adj" fmla="val 5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388" name="Picture 15387" descr="icon_p_depen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4048" y="4735000"/>
            <a:ext cx="300000" cy="300000"/>
          </a:xfrm>
          <a:prstGeom prst="rect">
            <a:avLst/>
          </a:prstGeom>
        </p:spPr>
      </p:pic>
      <p:sp>
        <p:nvSpPr>
          <p:cNvPr id="15389" name="TextBox 15388"/>
          <p:cNvSpPr txBox="1"/>
          <p:nvPr/>
        </p:nvSpPr>
        <p:spPr>
          <a:xfrm>
            <a:off x="1024048" y="4705000"/>
            <a:ext cx="317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32626"/>
                </a:solidFill>
                <a:latin typeface="Calibri"/>
              </a:rPr>
              <a:t>Always having to ask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1024048" y="4905000"/>
            <a:ext cx="317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536B"/>
                </a:solidFill>
                <a:latin typeface="Calibri"/>
              </a:rPr>
              <a:t>Independence depends on a stranger being free</a:t>
            </a:r>
          </a:p>
        </p:txBody>
      </p:sp>
      <p:pic>
        <p:nvPicPr>
          <p:cNvPr id="15391" name="Picture 15390" descr="hub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20000" y="1965000"/>
            <a:ext cx="6909867" cy="3280000"/>
          </a:xfrm>
          <a:prstGeom prst="rect">
            <a:avLst/>
          </a:prstGeom>
        </p:spPr>
      </p:pic>
      <p:sp>
        <p:nvSpPr>
          <p:cNvPr id="15392" name="Rounded Rectangle 15391"/>
          <p:cNvSpPr/>
          <p:nvPr/>
        </p:nvSpPr>
        <p:spPr>
          <a:xfrm>
            <a:off x="384048" y="5320000"/>
            <a:ext cx="4000000" cy="900000"/>
          </a:xfrm>
          <a:prstGeom prst="roundRect">
            <a:avLst>
              <a:gd name="adj" fmla="val 13000"/>
            </a:avLst>
          </a:prstGeom>
          <a:solidFill>
            <a:srgbClr val="E9F7EF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393" name="Picture 15392" descr="icon_g_ok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4048" y="5420000"/>
            <a:ext cx="280000" cy="280000"/>
          </a:xfrm>
          <a:prstGeom prst="rect">
            <a:avLst/>
          </a:prstGeom>
        </p:spPr>
      </p:pic>
      <p:sp>
        <p:nvSpPr>
          <p:cNvPr id="15394" name="TextBox 15393"/>
          <p:cNvSpPr txBox="1"/>
          <p:nvPr/>
        </p:nvSpPr>
        <p:spPr>
          <a:xfrm>
            <a:off x="884048" y="5420000"/>
            <a:ext cx="336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78A4C"/>
                </a:solidFill>
                <a:latin typeface="Calibri"/>
              </a:rPr>
              <a:t>CONFIDENCE ≥ 0.70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84048" y="5640000"/>
            <a:ext cx="336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41536B"/>
                </a:solidFill>
                <a:latin typeface="Calibri"/>
              </a:rPr>
              <a:t>The answer is spoken immediately and kept in context, so the next question needs no new photo.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4484048" y="5320000"/>
            <a:ext cx="4300000" cy="900000"/>
          </a:xfrm>
          <a:prstGeom prst="roundRect">
            <a:avLst>
              <a:gd name="adj" fmla="val 13000"/>
            </a:avLst>
          </a:prstGeom>
          <a:solidFill>
            <a:srgbClr val="FFF7E6"/>
          </a:solidFill>
          <a:ln w="12700">
            <a:solidFill>
              <a:srgbClr val="C8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397" name="Picture 15396" descr="icon_g_low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44048" y="5420000"/>
            <a:ext cx="280000" cy="280000"/>
          </a:xfrm>
          <a:prstGeom prst="rect">
            <a:avLst/>
          </a:prstGeom>
        </p:spPr>
      </p:pic>
      <p:sp>
        <p:nvSpPr>
          <p:cNvPr id="15398" name="TextBox 15397"/>
          <p:cNvSpPr txBox="1"/>
          <p:nvPr/>
        </p:nvSpPr>
        <p:spPr>
          <a:xfrm>
            <a:off x="4984048" y="5420000"/>
            <a:ext cx="366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820A"/>
                </a:solidFill>
                <a:latin typeface="Calibri"/>
              </a:rPr>
              <a:t>CONFIDENCE &lt; 0.70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4984048" y="5640000"/>
            <a:ext cx="366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>
                <a:solidFill>
                  <a:srgbClr val="41536B"/>
                </a:solidFill>
                <a:latin typeface="Calibri"/>
              </a:rPr>
              <a:t>The app refuses to guess. “Shall I connect you to a volunteer?” — one spoken yes opens a live video call.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8884048" y="5320000"/>
            <a:ext cx="2930000" cy="900000"/>
          </a:xfrm>
          <a:prstGeom prst="roundRect">
            <a:avLst>
              <a:gd name="adj" fmla="val 13000"/>
            </a:avLst>
          </a:prstGeom>
          <a:gradFill rotWithShape="1">
            <a:gsLst>
              <a:gs pos="0">
                <a:srgbClr val="1B2A3F"/>
              </a:gs>
              <a:gs pos="100000">
                <a:srgbClr val="123A6B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1" name="TextBox 15400"/>
          <p:cNvSpPr txBox="1"/>
          <p:nvPr/>
        </p:nvSpPr>
        <p:spPr>
          <a:xfrm>
            <a:off x="9004048" y="5320000"/>
            <a:ext cx="269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AI FIRST.</a:t>
            </a:r>
          </a:p>
          <a:p>
            <a:pPr algn="ctr">
              <a:spcAft>
                <a:spcPts val="100"/>
              </a:spcAft>
            </a:pPr>
            <a:r>
              <a:rPr sz="950" b="1" spc="50">
                <a:solidFill>
                  <a:srgbClr val="9EC1EA"/>
                </a:solidFill>
                <a:latin typeface="Calibri"/>
              </a:rPr>
              <a:t>HUMAN HELP WHEN</a:t>
            </a:r>
          </a:p>
          <a:p>
            <a:pPr algn="ctr">
              <a:spcAft>
                <a:spcPts val="0"/>
              </a:spcAft>
            </a:pPr>
            <a:r>
              <a:rPr sz="950" b="1" spc="50">
                <a:solidFill>
                  <a:srgbClr val="9EC1EA"/>
                </a:solidFill>
                <a:latin typeface="Calibri"/>
              </a:rPr>
              <a:t>AI IS NOT ENOUGH.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1">
                <a:solidFill>
                  <a:srgbClr val="1F497D"/>
                </a:solidFill>
                <a:latin typeface="Arial"/>
              </a:rPr>
              <a:t>Prime Innovators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84048" y="1190000"/>
            <a:ext cx="1143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23A6B"/>
                </a:solidFill>
                <a:latin typeface="Calibri"/>
              </a:rPr>
              <a:t>HOW IT WORKS  ·  FROM A SPOKEN SENTENCE TO A SPOKEN ANSWER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84048" y="1420000"/>
            <a:ext cx="2102000" cy="1460000"/>
          </a:xfrm>
          <a:prstGeom prst="roundRect">
            <a:avLst>
              <a:gd name="adj" fmla="val 9000"/>
            </a:avLst>
          </a:prstGeom>
          <a:solidFill>
            <a:srgbClr val="EAF2FD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84048" y="1420000"/>
            <a:ext cx="2102000" cy="62000"/>
          </a:xfrm>
          <a:prstGeom prst="roundRect">
            <a:avLst>
              <a:gd name="adj" fmla="val 9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13" name="Picture 17412" descr="icon_a_user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75048" y="1530000"/>
            <a:ext cx="320000" cy="32000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494048" y="1920000"/>
            <a:ext cx="1882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50">
                <a:solidFill>
                  <a:srgbClr val="2563EB"/>
                </a:solidFill>
                <a:latin typeface="Calibri"/>
              </a:rPr>
              <a:t>USER INPUT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94048" y="2170000"/>
            <a:ext cx="18820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Voice — wake word “Vision”</a:t>
            </a:r>
          </a:p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Camera — photo or live video</a:t>
            </a:r>
          </a:p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Touch · GPS location</a:t>
            </a:r>
          </a:p>
        </p:txBody>
      </p:sp>
      <p:sp>
        <p:nvSpPr>
          <p:cNvPr id="17416" name="Isosceles Triangle 17415"/>
          <p:cNvSpPr/>
          <p:nvPr/>
        </p:nvSpPr>
        <p:spPr>
          <a:xfrm rot="5400000">
            <a:off x="2541048" y="2060000"/>
            <a:ext cx="120000" cy="120000"/>
          </a:xfrm>
          <a:prstGeom prst="triangle">
            <a:avLst/>
          </a:prstGeom>
          <a:solidFill>
            <a:srgbClr val="9FB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2716048" y="1420000"/>
            <a:ext cx="2102000" cy="1460000"/>
          </a:xfrm>
          <a:prstGeom prst="roundRect">
            <a:avLst>
              <a:gd name="adj" fmla="val 9000"/>
            </a:avLst>
          </a:prstGeom>
          <a:solidFill>
            <a:srgbClr val="F0ECFF"/>
          </a:solidFill>
          <a:ln w="12700">
            <a:solidFill>
              <a:srgbClr val="6D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2716048" y="1420000"/>
            <a:ext cx="2102000" cy="62000"/>
          </a:xfrm>
          <a:prstGeom prst="roundRect">
            <a:avLst>
              <a:gd name="adj" fmla="val 90000"/>
            </a:avLst>
          </a:prstGeom>
          <a:solidFill>
            <a:srgbClr val="6D4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19" name="Picture 17418" descr="icon_a_phon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07048" y="1530000"/>
            <a:ext cx="320000" cy="32000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2826048" y="1920000"/>
            <a:ext cx="1882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50">
                <a:solidFill>
                  <a:srgbClr val="6D4AFF"/>
                </a:solidFill>
                <a:latin typeface="Calibri"/>
              </a:rPr>
              <a:t>ANDROID APP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826048" y="2170000"/>
            <a:ext cx="18820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Kotlin + Jetpack Compose</a:t>
            </a:r>
          </a:p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41 on-device voice rules</a:t>
            </a:r>
          </a:p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Screen + 3-turn memory</a:t>
            </a:r>
          </a:p>
        </p:txBody>
      </p:sp>
      <p:sp>
        <p:nvSpPr>
          <p:cNvPr id="17422" name="Isosceles Triangle 17421"/>
          <p:cNvSpPr/>
          <p:nvPr/>
        </p:nvSpPr>
        <p:spPr>
          <a:xfrm rot="5400000">
            <a:off x="4873048" y="2060000"/>
            <a:ext cx="120000" cy="120000"/>
          </a:xfrm>
          <a:prstGeom prst="triangle">
            <a:avLst/>
          </a:prstGeom>
          <a:solidFill>
            <a:srgbClr val="9FB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5048048" y="1420000"/>
            <a:ext cx="2102000" cy="1460000"/>
          </a:xfrm>
          <a:prstGeom prst="roundRect">
            <a:avLst>
              <a:gd name="adj" fmla="val 9000"/>
            </a:avLst>
          </a:prstGeom>
          <a:solidFill>
            <a:srgbClr val="E7F7F1"/>
          </a:solidFill>
          <a:ln w="1270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5048048" y="1420000"/>
            <a:ext cx="2102000" cy="62000"/>
          </a:xfrm>
          <a:prstGeom prst="roundRect">
            <a:avLst>
              <a:gd name="adj" fmla="val 9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25" name="Picture 17424" descr="icon_a_clou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39048" y="1530000"/>
            <a:ext cx="320000" cy="32000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5158048" y="1920000"/>
            <a:ext cx="1882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50">
                <a:solidFill>
                  <a:srgbClr val="0E9F6E"/>
                </a:solidFill>
                <a:latin typeface="Calibri"/>
              </a:rPr>
              <a:t>SUPABASE BACKEND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158048" y="2170000"/>
            <a:ext cx="18820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20 Deno Edge Functions</a:t>
            </a:r>
          </a:p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Auth · Postgres + RLS</a:t>
            </a:r>
          </a:p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Realtime WebSocket</a:t>
            </a:r>
          </a:p>
        </p:txBody>
      </p:sp>
      <p:sp>
        <p:nvSpPr>
          <p:cNvPr id="17428" name="Isosceles Triangle 17427"/>
          <p:cNvSpPr/>
          <p:nvPr/>
        </p:nvSpPr>
        <p:spPr>
          <a:xfrm rot="5400000">
            <a:off x="7205048" y="2060000"/>
            <a:ext cx="120000" cy="120000"/>
          </a:xfrm>
          <a:prstGeom prst="triangle">
            <a:avLst/>
          </a:prstGeom>
          <a:solidFill>
            <a:srgbClr val="9FB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7380048" y="1420000"/>
            <a:ext cx="2102000" cy="1460000"/>
          </a:xfrm>
          <a:prstGeom prst="roundRect">
            <a:avLst>
              <a:gd name="adj" fmla="val 9000"/>
            </a:avLst>
          </a:prstGeom>
          <a:solidFill>
            <a:srgbClr val="FFF3EA"/>
          </a:solidFill>
          <a:ln w="12700">
            <a:solidFill>
              <a:srgbClr val="EA6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7380048" y="1420000"/>
            <a:ext cx="2102000" cy="62000"/>
          </a:xfrm>
          <a:prstGeom prst="roundRect">
            <a:avLst>
              <a:gd name="adj" fmla="val 90000"/>
            </a:avLst>
          </a:prstGeom>
          <a:solidFill>
            <a:srgbClr val="E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31" name="Picture 17430" descr="icon_a_ai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71048" y="1530000"/>
            <a:ext cx="320000" cy="320000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7490048" y="1920000"/>
            <a:ext cx="1882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50">
                <a:solidFill>
                  <a:srgbClr val="EA6A1E"/>
                </a:solidFill>
                <a:latin typeface="Calibri"/>
              </a:rPr>
              <a:t>GOOGLE GEMINI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490048" y="2170000"/>
            <a:ext cx="18820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Vision → JSON + confidence</a:t>
            </a:r>
          </a:p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Live API, native audio</a:t>
            </a:r>
          </a:p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4-model fallback chain</a:t>
            </a:r>
          </a:p>
        </p:txBody>
      </p:sp>
      <p:sp>
        <p:nvSpPr>
          <p:cNvPr id="17434" name="Isosceles Triangle 17433"/>
          <p:cNvSpPr/>
          <p:nvPr/>
        </p:nvSpPr>
        <p:spPr>
          <a:xfrm rot="5400000">
            <a:off x="9537048" y="2060000"/>
            <a:ext cx="120000" cy="120000"/>
          </a:xfrm>
          <a:prstGeom prst="triangle">
            <a:avLst/>
          </a:prstGeom>
          <a:solidFill>
            <a:srgbClr val="9FB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9712048" y="1420000"/>
            <a:ext cx="2102000" cy="1460000"/>
          </a:xfrm>
          <a:prstGeom prst="roundRect">
            <a:avLst>
              <a:gd name="adj" fmla="val 9000"/>
            </a:avLst>
          </a:prstGeom>
          <a:solidFill>
            <a:srgbClr val="E6F6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9712048" y="1420000"/>
            <a:ext cx="2102000" cy="62000"/>
          </a:xfrm>
          <a:prstGeom prst="roundRect">
            <a:avLst>
              <a:gd name="adj" fmla="val 9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37" name="Picture 17436" descr="icon_a_out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03048" y="1530000"/>
            <a:ext cx="320000" cy="320000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9822048" y="1920000"/>
            <a:ext cx="1882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spc="50">
                <a:solidFill>
                  <a:srgbClr val="0891B2"/>
                </a:solidFill>
                <a:latin typeface="Calibri"/>
              </a:rPr>
              <a:t>ASSISTANCE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9822048" y="2170000"/>
            <a:ext cx="1882000" cy="6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Spoken answer (Android TTS)</a:t>
            </a:r>
          </a:p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High-contrast screen</a:t>
            </a:r>
          </a:p>
          <a:p>
            <a:pPr algn="ctr">
              <a:lnSpc>
                <a:spcPct val="92000"/>
              </a:lnSpc>
              <a:spcAft>
                <a:spcPts val="35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The right feature opens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84048" y="2960000"/>
            <a:ext cx="11430000" cy="4200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D93A3A"/>
              </a:gs>
              <a:gs pos="100000">
                <a:srgbClr val="EA6A1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614048" y="2960000"/>
            <a:ext cx="1097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80">
                <a:solidFill>
                  <a:srgbClr val="FFE0D2"/>
                </a:solidFill>
                <a:latin typeface="Calibri"/>
              </a:rPr>
              <a:t>HUMAN FALLBACK   </a:t>
            </a:r>
            <a:r>
              <a:rPr sz="1100" b="0">
                <a:solidFill>
                  <a:srgbClr val="FFFFFF"/>
                </a:solidFill>
                <a:latin typeface="Calibri"/>
              </a:rPr>
              <a:t>Below 0.70 confidence the app stops, says so aloud and offers a live volunteer — a WebRTC video call signalled over Supabase Realtime.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84048" y="3460000"/>
            <a:ext cx="1143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23A6B"/>
                </a:solidFill>
                <a:latin typeface="Calibri"/>
              </a:rPr>
              <a:t>THE SAME FOUR STEPS BEHIND EVERY FEATURE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384048" y="3690000"/>
            <a:ext cx="2745000" cy="6000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44" name="Picture 17443" descr="icon_s_in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34048" y="3840000"/>
            <a:ext cx="300000" cy="300000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904048" y="3770000"/>
            <a:ext cx="2105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8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904048" y="3960000"/>
            <a:ext cx="2105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>
                <a:solidFill>
                  <a:srgbClr val="EEF5FF"/>
                </a:solidFill>
                <a:latin typeface="Calibri"/>
              </a:rPr>
              <a:t>The user speaks or points the camera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3279048" y="3690000"/>
            <a:ext cx="2745000" cy="600000"/>
          </a:xfrm>
          <a:prstGeom prst="roundRect">
            <a:avLst>
              <a:gd name="adj" fmla="val 16000"/>
            </a:avLst>
          </a:prstGeom>
          <a:solidFill>
            <a:srgbClr val="6D4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48" name="Picture 17447" descr="icon_s_un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29048" y="3840000"/>
            <a:ext cx="300000" cy="300000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3799048" y="3770000"/>
            <a:ext cx="2105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80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3799048" y="3960000"/>
            <a:ext cx="2105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>
                <a:solidFill>
                  <a:srgbClr val="EEF5FF"/>
                </a:solidFill>
                <a:latin typeface="Calibri"/>
              </a:rPr>
              <a:t>Gemini reads the words and the image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6174048" y="3690000"/>
            <a:ext cx="2745000" cy="600000"/>
          </a:xfrm>
          <a:prstGeom prst="roundRect">
            <a:avLst>
              <a:gd name="adj" fmla="val 16000"/>
            </a:avLst>
          </a:prstGeom>
          <a:solidFill>
            <a:srgbClr val="EA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52" name="Picture 17451" descr="icon_s_dec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24048" y="3840000"/>
            <a:ext cx="300000" cy="300000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6694048" y="3770000"/>
            <a:ext cx="2105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80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694048" y="3960000"/>
            <a:ext cx="2105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>
                <a:solidFill>
                  <a:srgbClr val="EEF5FF"/>
                </a:solidFill>
                <a:latin typeface="Calibri"/>
              </a:rPr>
              <a:t>Route the intent · score the confidence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9069048" y="3690000"/>
            <a:ext cx="2745000" cy="6000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56" name="Picture 17455" descr="icon_s_act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219048" y="3840000"/>
            <a:ext cx="300000" cy="300000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9589048" y="3770000"/>
            <a:ext cx="2105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80">
                <a:solidFill>
                  <a:srgbClr val="FFFFFF"/>
                </a:solidFill>
                <a:latin typeface="Calibri"/>
              </a:rPr>
              <a:t>ASSIST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9589048" y="3960000"/>
            <a:ext cx="2105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>
                <a:solidFill>
                  <a:srgbClr val="EEF5FF"/>
                </a:solidFill>
                <a:latin typeface="Calibri"/>
              </a:rPr>
              <a:t>Speak the answer, or hand to a human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384048" y="4420000"/>
            <a:ext cx="1143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23A6B"/>
                </a:solidFill>
                <a:latin typeface="Calibri"/>
              </a:rPr>
              <a:t>TECHNOLOGIES ACTUALLY USED IN THE CURRENT ANDROID BUILD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384048" y="465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1" name="Rounded Rectangle 17460"/>
          <p:cNvSpPr/>
          <p:nvPr/>
        </p:nvSpPr>
        <p:spPr>
          <a:xfrm>
            <a:off x="384048" y="475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524048" y="473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Kotlin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524048" y="491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Language · minSdk 24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2304048" y="465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5" name="Rounded Rectangle 17464"/>
          <p:cNvSpPr/>
          <p:nvPr/>
        </p:nvSpPr>
        <p:spPr>
          <a:xfrm>
            <a:off x="2304048" y="475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2444048" y="473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Jetpack Compose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2444048" y="491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Material 3 UI · 23 screens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4224048" y="465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9" name="Rounded Rectangle 17468"/>
          <p:cNvSpPr/>
          <p:nvPr/>
        </p:nvSpPr>
        <p:spPr>
          <a:xfrm>
            <a:off x="4224048" y="475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4364048" y="473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CameraX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4364048" y="491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Capture + live frames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6144048" y="465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3" name="Rounded Rectangle 17472"/>
          <p:cNvSpPr/>
          <p:nvPr/>
        </p:nvSpPr>
        <p:spPr>
          <a:xfrm>
            <a:off x="6144048" y="475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4" name="TextBox 17473"/>
          <p:cNvSpPr txBox="1"/>
          <p:nvPr/>
        </p:nvSpPr>
        <p:spPr>
          <a:xfrm>
            <a:off x="6284048" y="473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SpeechRecognizer + TTS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6284048" y="491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Android voice in / out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8064048" y="465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7" name="Rounded Rectangle 17476"/>
          <p:cNvSpPr/>
          <p:nvPr/>
        </p:nvSpPr>
        <p:spPr>
          <a:xfrm>
            <a:off x="8064048" y="475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8" name="TextBox 17477"/>
          <p:cNvSpPr txBox="1"/>
          <p:nvPr/>
        </p:nvSpPr>
        <p:spPr>
          <a:xfrm>
            <a:off x="8204048" y="473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Google Gemini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8204048" y="491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Vision → JSON + confidence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9984048" y="465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1" name="Rounded Rectangle 17480"/>
          <p:cNvSpPr/>
          <p:nvPr/>
        </p:nvSpPr>
        <p:spPr>
          <a:xfrm>
            <a:off x="9984048" y="475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2" name="TextBox 17481"/>
          <p:cNvSpPr txBox="1"/>
          <p:nvPr/>
        </p:nvSpPr>
        <p:spPr>
          <a:xfrm>
            <a:off x="10124048" y="473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Gemini Live API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10124048" y="491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Native audio over WebSocket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384048" y="521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5" name="Rounded Rectangle 17484"/>
          <p:cNvSpPr/>
          <p:nvPr/>
        </p:nvSpPr>
        <p:spPr>
          <a:xfrm>
            <a:off x="384048" y="531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6" name="TextBox 17485"/>
          <p:cNvSpPr txBox="1"/>
          <p:nvPr/>
        </p:nvSpPr>
        <p:spPr>
          <a:xfrm>
            <a:off x="524048" y="529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Supabase Auth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524048" y="547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JWT session + refresh</a:t>
            </a:r>
          </a:p>
        </p:txBody>
      </p:sp>
      <p:sp>
        <p:nvSpPr>
          <p:cNvPr id="17488" name="Rounded Rectangle 17487"/>
          <p:cNvSpPr/>
          <p:nvPr/>
        </p:nvSpPr>
        <p:spPr>
          <a:xfrm>
            <a:off x="2304048" y="521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9" name="Rounded Rectangle 17488"/>
          <p:cNvSpPr/>
          <p:nvPr/>
        </p:nvSpPr>
        <p:spPr>
          <a:xfrm>
            <a:off x="2304048" y="531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0" name="TextBox 17489"/>
          <p:cNvSpPr txBox="1"/>
          <p:nvPr/>
        </p:nvSpPr>
        <p:spPr>
          <a:xfrm>
            <a:off x="2444048" y="529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Postgres + RLS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2444048" y="547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11 tables, row-level policies</a:t>
            </a:r>
          </a:p>
        </p:txBody>
      </p:sp>
      <p:sp>
        <p:nvSpPr>
          <p:cNvPr id="17492" name="Rounded Rectangle 17491"/>
          <p:cNvSpPr/>
          <p:nvPr/>
        </p:nvSpPr>
        <p:spPr>
          <a:xfrm>
            <a:off x="4224048" y="521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3" name="Rounded Rectangle 17492"/>
          <p:cNvSpPr/>
          <p:nvPr/>
        </p:nvSpPr>
        <p:spPr>
          <a:xfrm>
            <a:off x="4224048" y="531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4" name="TextBox 17493"/>
          <p:cNvSpPr txBox="1"/>
          <p:nvPr/>
        </p:nvSpPr>
        <p:spPr>
          <a:xfrm>
            <a:off x="4364048" y="529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Supabase Realtime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4364048" y="547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Volunteer call signalling</a:t>
            </a:r>
          </a:p>
        </p:txBody>
      </p:sp>
      <p:sp>
        <p:nvSpPr>
          <p:cNvPr id="17496" name="Rounded Rectangle 17495"/>
          <p:cNvSpPr/>
          <p:nvPr/>
        </p:nvSpPr>
        <p:spPr>
          <a:xfrm>
            <a:off x="6144048" y="521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7" name="Rounded Rectangle 17496"/>
          <p:cNvSpPr/>
          <p:nvPr/>
        </p:nvSpPr>
        <p:spPr>
          <a:xfrm>
            <a:off x="6144048" y="531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8" name="TextBox 17497"/>
          <p:cNvSpPr txBox="1"/>
          <p:nvPr/>
        </p:nvSpPr>
        <p:spPr>
          <a:xfrm>
            <a:off x="6284048" y="529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Edge Functions (Deno)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6284048" y="547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20 server endpoints</a:t>
            </a:r>
          </a:p>
        </p:txBody>
      </p:sp>
      <p:sp>
        <p:nvSpPr>
          <p:cNvPr id="17500" name="Rounded Rectangle 17499"/>
          <p:cNvSpPr/>
          <p:nvPr/>
        </p:nvSpPr>
        <p:spPr>
          <a:xfrm>
            <a:off x="8064048" y="521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1" name="Rounded Rectangle 17500"/>
          <p:cNvSpPr/>
          <p:nvPr/>
        </p:nvSpPr>
        <p:spPr>
          <a:xfrm>
            <a:off x="8064048" y="531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2" name="TextBox 17501"/>
          <p:cNvSpPr txBox="1"/>
          <p:nvPr/>
        </p:nvSpPr>
        <p:spPr>
          <a:xfrm>
            <a:off x="8204048" y="529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WebRTC</a:t>
            </a:r>
          </a:p>
        </p:txBody>
      </p:sp>
      <p:sp>
        <p:nvSpPr>
          <p:cNvPr id="17503" name="TextBox 17502"/>
          <p:cNvSpPr txBox="1"/>
          <p:nvPr/>
        </p:nvSpPr>
        <p:spPr>
          <a:xfrm>
            <a:off x="8204048" y="547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Volunteer video calls</a:t>
            </a:r>
          </a:p>
        </p:txBody>
      </p:sp>
      <p:sp>
        <p:nvSpPr>
          <p:cNvPr id="17504" name="Rounded Rectangle 17503"/>
          <p:cNvSpPr/>
          <p:nvPr/>
        </p:nvSpPr>
        <p:spPr>
          <a:xfrm>
            <a:off x="9984048" y="5210000"/>
            <a:ext cx="1830000" cy="4700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5" name="Rounded Rectangle 17504"/>
          <p:cNvSpPr/>
          <p:nvPr/>
        </p:nvSpPr>
        <p:spPr>
          <a:xfrm>
            <a:off x="9984048" y="5310000"/>
            <a:ext cx="42000" cy="27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6" name="TextBox 17505"/>
          <p:cNvSpPr txBox="1"/>
          <p:nvPr/>
        </p:nvSpPr>
        <p:spPr>
          <a:xfrm>
            <a:off x="10124048" y="5298000"/>
            <a:ext cx="1580000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Media3 / ExoPlayer</a:t>
            </a:r>
          </a:p>
        </p:txBody>
      </p:sp>
      <p:sp>
        <p:nvSpPr>
          <p:cNvPr id="17507" name="TextBox 17506"/>
          <p:cNvSpPr txBox="1"/>
          <p:nvPr/>
        </p:nvSpPr>
        <p:spPr>
          <a:xfrm>
            <a:off x="10124048" y="5472000"/>
            <a:ext cx="158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Radio, stories, audio games</a:t>
            </a:r>
          </a:p>
        </p:txBody>
      </p:sp>
      <p:sp>
        <p:nvSpPr>
          <p:cNvPr id="17508" name="Rounded Rectangle 17507"/>
          <p:cNvSpPr/>
          <p:nvPr/>
        </p:nvSpPr>
        <p:spPr>
          <a:xfrm>
            <a:off x="384048" y="5790000"/>
            <a:ext cx="11430000" cy="460000"/>
          </a:xfrm>
          <a:prstGeom prst="roundRect">
            <a:avLst>
              <a:gd name="adj" fmla="val 30000"/>
            </a:avLst>
          </a:prstGeom>
          <a:solidFill>
            <a:srgbClr val="F1F5FA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9" name="TextBox 17508"/>
          <p:cNvSpPr txBox="1"/>
          <p:nvPr/>
        </p:nvSpPr>
        <p:spPr>
          <a:xfrm>
            <a:off x="624048" y="5790000"/>
            <a:ext cx="10950000" cy="4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spc="80">
                <a:solidFill>
                  <a:srgbClr val="6B7C93"/>
                </a:solidFill>
                <a:latin typeface="Calibri"/>
              </a:rPr>
              <a:t>ALSO IN THE BUILD   </a:t>
            </a:r>
            <a:r>
              <a:rPr sz="900" b="0">
                <a:solidFill>
                  <a:srgbClr val="41536B"/>
                </a:solidFill>
                <a:latin typeface="Calibri"/>
              </a:rPr>
              <a:t>OkHttp · DataStore · Play Services Location · OpenStreetMap · WhatsApp Cloud API.    </a:t>
            </a:r>
            <a:r>
              <a:rPr sz="900" b="1">
                <a:solidFill>
                  <a:srgbClr val="123A6B"/>
                </a:solidFill>
                <a:latin typeface="Calibri"/>
              </a:rPr>
              <a:t>The Gemini key never leaves the server — Live sessions use ephemeral tokens.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KEY FEATURES AND INNOVATION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1">
                <a:solidFill>
                  <a:srgbClr val="1F497D"/>
                </a:solidFill>
                <a:latin typeface="Arial"/>
              </a:rPr>
              <a:t>Prime Innovators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84048" y="1190000"/>
            <a:ext cx="720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23A6B"/>
                </a:solidFill>
                <a:latin typeface="Calibri"/>
              </a:rPr>
              <a:t>IMPLEMENTED TODAY  ·  14 ASSISTANTS ON ONE HOME SCREEN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430000" y="1190000"/>
            <a:ext cx="439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2563EB"/>
                </a:solidFill>
                <a:latin typeface="Calibri"/>
              </a:rPr>
              <a:t>INSIDE THE APP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84048" y="142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EAF2FD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13" name="Picture 17412" descr="icon_f_rea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3648" y="1535000"/>
            <a:ext cx="290000" cy="29000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454048" y="186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Calibri"/>
              </a:rPr>
              <a:t>Smart Reading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44048" y="206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Menus, labels, notices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753248" y="142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EAF2FD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17" name="Picture 17416" descr="icon_f_scen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2848" y="1535000"/>
            <a:ext cx="290000" cy="29000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1823248" y="186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Calibri"/>
              </a:rPr>
              <a:t>Surroundings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813248" y="206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What is in front of me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122448" y="142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EAF2FD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21" name="Picture 17420" descr="icon_f_mone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22048" y="1535000"/>
            <a:ext cx="290000" cy="290000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3192448" y="186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Calibri"/>
              </a:rPr>
              <a:t>Currency Reader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182448" y="206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Notes, coins, total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491648" y="142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EAF2FD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25" name="Picture 17424" descr="icon_f_fin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91248" y="1535000"/>
            <a:ext cx="290000" cy="29000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4561648" y="186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Calibri"/>
              </a:rPr>
              <a:t>Object Finder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551648" y="206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Wallet, keys, bottle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860848" y="142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FFF3EA"/>
          </a:solidFill>
          <a:ln w="9525">
            <a:solidFill>
              <a:srgbClr val="EA6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29" name="Picture 17428" descr="icon_f_hazar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0448" y="1535000"/>
            <a:ext cx="290000" cy="290000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5930848" y="186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A6A1E"/>
                </a:solidFill>
                <a:latin typeface="Calibri"/>
              </a:rPr>
              <a:t>Hazard Mode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920848" y="206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Scans every 5 seconds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84048" y="244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FFF3EA"/>
          </a:solidFill>
          <a:ln w="9525">
            <a:solidFill>
              <a:srgbClr val="EA6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33" name="Picture 17432" descr="icon_f_bu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648" y="2555000"/>
            <a:ext cx="290000" cy="290000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454048" y="288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A6A1E"/>
                </a:solidFill>
                <a:latin typeface="Calibri"/>
              </a:rPr>
              <a:t>Public Transport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44048" y="308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Routes, platforms, signs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753248" y="244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FFF3EA"/>
          </a:solidFill>
          <a:ln w="9525">
            <a:solidFill>
              <a:srgbClr val="EA6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37" name="Picture 17436" descr="icon_f_wher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52848" y="2555000"/>
            <a:ext cx="290000" cy="290000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1823248" y="288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A6A1E"/>
                </a:solidFill>
                <a:latin typeface="Calibri"/>
              </a:rPr>
              <a:t>Where Am I?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813248" y="308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Street + nearby places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122448" y="244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F0ECFF"/>
          </a:solidFill>
          <a:ln w="9525">
            <a:solidFill>
              <a:srgbClr val="6D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41" name="Picture 17440" descr="icon_f_liv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22048" y="2555000"/>
            <a:ext cx="290000" cy="290000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3192448" y="288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6D4AFF"/>
                </a:solidFill>
                <a:latin typeface="Calibri"/>
              </a:rPr>
              <a:t>VisionBridge Live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3182448" y="308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Real-time camera + voice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491648" y="244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F0ECFF"/>
          </a:solidFill>
          <a:ln w="9525">
            <a:solidFill>
              <a:srgbClr val="6D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45" name="Picture 17444" descr="icon_f_call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91248" y="2555000"/>
            <a:ext cx="290000" cy="290000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4561648" y="288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6D4AFF"/>
                </a:solidFill>
                <a:latin typeface="Calibri"/>
              </a:rPr>
              <a:t>AI Voice Call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551648" y="308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Conversational assistant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5860848" y="244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F0ECFF"/>
          </a:solidFill>
          <a:ln w="9525">
            <a:solidFill>
              <a:srgbClr val="6D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49" name="Picture 17448" descr="icon_f_phon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0448" y="2555000"/>
            <a:ext cx="290000" cy="290000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5930848" y="288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6D4AFF"/>
                </a:solidFill>
                <a:latin typeface="Calibri"/>
              </a:rPr>
              <a:t>Phone Assistant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920848" y="308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Voice-first calling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384048" y="346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F0ECFF"/>
          </a:solidFill>
          <a:ln w="9525">
            <a:solidFill>
              <a:srgbClr val="6D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53" name="Picture 17452" descr="icon_f_vol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3648" y="3575000"/>
            <a:ext cx="290000" cy="290000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454048" y="390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6D4AFF"/>
                </a:solidFill>
                <a:latin typeface="Calibri"/>
              </a:rPr>
              <a:t>Volunteer Help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444048" y="410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Live sighted helper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1753248" y="346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FDEDED"/>
          </a:solidFill>
          <a:ln w="9525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57" name="Picture 17456" descr="icon_f_sos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52848" y="3575000"/>
            <a:ext cx="290000" cy="290000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1823248" y="390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D93A3A"/>
                </a:solidFill>
                <a:latin typeface="Calibri"/>
              </a:rPr>
              <a:t>Emergency SOS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1813248" y="410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WhatsApp alert + GPS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3122448" y="346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E7F7F1"/>
          </a:solidFill>
          <a:ln w="9525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61" name="Picture 17460" descr="icon_f_news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622048" y="3575000"/>
            <a:ext cx="290000" cy="290000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3192448" y="390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E9F6E"/>
                </a:solidFill>
                <a:latin typeface="Calibri"/>
              </a:rPr>
              <a:t>Daily News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3182448" y="410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Spoken local briefing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4491648" y="346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E7F7F1"/>
          </a:solidFill>
          <a:ln w="9525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65" name="Picture 17464" descr="icon_f_fun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91248" y="3575000"/>
            <a:ext cx="290000" cy="290000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4561648" y="3900000"/>
            <a:ext cx="114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E9F6E"/>
                </a:solidFill>
                <a:latin typeface="Calibri"/>
              </a:rPr>
              <a:t>Entertainment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4551648" y="4100000"/>
            <a:ext cx="11692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Radio, stories, games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5860848" y="3460000"/>
            <a:ext cx="1289200" cy="930000"/>
          </a:xfrm>
          <a:prstGeom prst="roundRect">
            <a:avLst>
              <a:gd name="adj" fmla="val 15000"/>
            </a:avLst>
          </a:prstGeom>
          <a:solidFill>
            <a:srgbClr val="F1F5FA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5920848" y="3650000"/>
            <a:ext cx="11692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spc="90">
                <a:solidFill>
                  <a:srgbClr val="6B7C93"/>
                </a:solidFill>
                <a:latin typeface="Calibri"/>
              </a:rPr>
              <a:t>ALSO BUILT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5920848" y="3850000"/>
            <a:ext cx="11692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Volunteer Dashboard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5920848" y="4050000"/>
            <a:ext cx="11692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41536B"/>
                </a:solidFill>
                <a:latin typeface="Calibri"/>
              </a:rPr>
              <a:t>A separate login and screen for the sighted volunteer</a:t>
            </a:r>
          </a:p>
        </p:txBody>
      </p:sp>
      <p:pic>
        <p:nvPicPr>
          <p:cNvPr id="17472" name="Picture 17471" descr="phone_hom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30000" y="1400000"/>
            <a:ext cx="1400000" cy="2718672"/>
          </a:xfrm>
          <a:prstGeom prst="rect">
            <a:avLst/>
          </a:prstGeom>
        </p:spPr>
      </p:pic>
      <p:sp>
        <p:nvSpPr>
          <p:cNvPr id="17473" name="TextBox 17472"/>
          <p:cNvSpPr txBox="1"/>
          <p:nvPr/>
        </p:nvSpPr>
        <p:spPr>
          <a:xfrm>
            <a:off x="7430000" y="413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23A6B"/>
                </a:solidFill>
                <a:latin typeface="Calibri"/>
              </a:rPr>
              <a:t>Home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7430000" y="431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14 assistants, one wake word</a:t>
            </a:r>
          </a:p>
        </p:txBody>
      </p:sp>
      <p:pic>
        <p:nvPicPr>
          <p:cNvPr id="17475" name="Picture 17474" descr="phone_liv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22000" y="1400000"/>
            <a:ext cx="1400000" cy="2718672"/>
          </a:xfrm>
          <a:prstGeom prst="rect">
            <a:avLst/>
          </a:prstGeom>
        </p:spPr>
      </p:pic>
      <p:sp>
        <p:nvSpPr>
          <p:cNvPr id="17476" name="TextBox 17475"/>
          <p:cNvSpPr txBox="1"/>
          <p:nvPr/>
        </p:nvSpPr>
        <p:spPr>
          <a:xfrm>
            <a:off x="8922000" y="413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23A6B"/>
                </a:solidFill>
                <a:latin typeface="Calibri"/>
              </a:rPr>
              <a:t>VisionBridge Live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8922000" y="431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Camera + voice in real time</a:t>
            </a:r>
          </a:p>
        </p:txBody>
      </p:sp>
      <p:pic>
        <p:nvPicPr>
          <p:cNvPr id="17478" name="Picture 17477" descr="phone_reading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14000" y="1400000"/>
            <a:ext cx="1400000" cy="2718672"/>
          </a:xfrm>
          <a:prstGeom prst="rect">
            <a:avLst/>
          </a:prstGeom>
        </p:spPr>
      </p:pic>
      <p:sp>
        <p:nvSpPr>
          <p:cNvPr id="17479" name="TextBox 17478"/>
          <p:cNvSpPr txBox="1"/>
          <p:nvPr/>
        </p:nvSpPr>
        <p:spPr>
          <a:xfrm>
            <a:off x="10414000" y="4130000"/>
            <a:ext cx="14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23A6B"/>
                </a:solidFill>
                <a:latin typeface="Calibri"/>
              </a:rPr>
              <a:t>Smart Reading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10414000" y="431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50" b="0">
                <a:solidFill>
                  <a:srgbClr val="6B7C93"/>
                </a:solidFill>
                <a:latin typeface="Calibri"/>
              </a:rPr>
              <a:t>Reads text aloud with a score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384048" y="4520000"/>
            <a:ext cx="1143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23A6B"/>
                </a:solidFill>
                <a:latin typeface="Calibri"/>
              </a:rPr>
              <a:t>WHAT MAKES IT DIFFERENT  ·  FIVE INNOVATIONS, ALL RUNNING TODAY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384048" y="4750000"/>
            <a:ext cx="2214000" cy="1470000"/>
          </a:xfrm>
          <a:prstGeom prst="roundRect">
            <a:avLst>
              <a:gd name="adj" fmla="val 9000"/>
            </a:avLst>
          </a:prstGeom>
          <a:solidFill>
            <a:srgbClr val="E9F7EF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3" name="Rounded Rectangle 17482"/>
          <p:cNvSpPr/>
          <p:nvPr/>
        </p:nvSpPr>
        <p:spPr>
          <a:xfrm>
            <a:off x="384048" y="4750000"/>
            <a:ext cx="2214000" cy="60000"/>
          </a:xfrm>
          <a:prstGeom prst="roundRect">
            <a:avLst>
              <a:gd name="adj" fmla="val 90000"/>
            </a:avLst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84" name="Picture 17483" descr="icon_i_gat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4048" y="4910000"/>
            <a:ext cx="300000" cy="300000"/>
          </a:xfrm>
          <a:prstGeom prst="rect">
            <a:avLst/>
          </a:prstGeom>
        </p:spPr>
      </p:pic>
      <p:sp>
        <p:nvSpPr>
          <p:cNvPr id="17485" name="TextBox 17484"/>
          <p:cNvSpPr txBox="1"/>
          <p:nvPr/>
        </p:nvSpPr>
        <p:spPr>
          <a:xfrm>
            <a:off x="924048" y="4960000"/>
            <a:ext cx="1554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50" b="1">
                <a:solidFill>
                  <a:srgbClr val="178A4C"/>
                </a:solidFill>
                <a:latin typeface="Calibri"/>
              </a:rPr>
              <a:t>THE CONFIDENCE GATE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554048" y="5240000"/>
            <a:ext cx="1874000" cy="9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Every vision answer carries a score. Below 0.70 the app refuses to guess and offers a live volunteer.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2688048" y="4750000"/>
            <a:ext cx="2214000" cy="1470000"/>
          </a:xfrm>
          <a:prstGeom prst="roundRect">
            <a:avLst>
              <a:gd name="adj" fmla="val 9000"/>
            </a:avLst>
          </a:prstGeom>
          <a:solidFill>
            <a:srgbClr val="FFF7E6"/>
          </a:solidFill>
          <a:ln w="12700">
            <a:solidFill>
              <a:srgbClr val="C8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8" name="Rounded Rectangle 17487"/>
          <p:cNvSpPr/>
          <p:nvPr/>
        </p:nvSpPr>
        <p:spPr>
          <a:xfrm>
            <a:off x="2688048" y="4750000"/>
            <a:ext cx="2214000" cy="60000"/>
          </a:xfrm>
          <a:prstGeom prst="roundRect">
            <a:avLst>
              <a:gd name="adj" fmla="val 90000"/>
            </a:avLst>
          </a:prstGeom>
          <a:solidFill>
            <a:srgbClr val="C8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89" name="Picture 17488" descr="icon_i_wak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858048" y="4910000"/>
            <a:ext cx="300000" cy="300000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3228048" y="4960000"/>
            <a:ext cx="1554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50" b="1">
                <a:solidFill>
                  <a:srgbClr val="C8820A"/>
                </a:solidFill>
                <a:latin typeface="Calibri"/>
              </a:rPr>
              <a:t>ONE WORD, NO MENUS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2858048" y="5240000"/>
            <a:ext cx="1874000" cy="9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“Vision” plus 41 on-device rules route most commands instantly, with no network round-trip.</a:t>
            </a:r>
          </a:p>
        </p:txBody>
      </p:sp>
      <p:sp>
        <p:nvSpPr>
          <p:cNvPr id="17492" name="Rounded Rectangle 17491"/>
          <p:cNvSpPr/>
          <p:nvPr/>
        </p:nvSpPr>
        <p:spPr>
          <a:xfrm>
            <a:off x="4992048" y="4750000"/>
            <a:ext cx="2214000" cy="1470000"/>
          </a:xfrm>
          <a:prstGeom prst="roundRect">
            <a:avLst>
              <a:gd name="adj" fmla="val 9000"/>
            </a:avLst>
          </a:prstGeom>
          <a:solidFill>
            <a:srgbClr val="F0ECFF"/>
          </a:solidFill>
          <a:ln w="12700">
            <a:solidFill>
              <a:srgbClr val="6D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3" name="Rounded Rectangle 17492"/>
          <p:cNvSpPr/>
          <p:nvPr/>
        </p:nvSpPr>
        <p:spPr>
          <a:xfrm>
            <a:off x="4992048" y="4750000"/>
            <a:ext cx="2214000" cy="60000"/>
          </a:xfrm>
          <a:prstGeom prst="roundRect">
            <a:avLst>
              <a:gd name="adj" fmla="val 90000"/>
            </a:avLst>
          </a:prstGeom>
          <a:solidFill>
            <a:srgbClr val="6D4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94" name="Picture 17493" descr="icon_i_liv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62048" y="4910000"/>
            <a:ext cx="300000" cy="300000"/>
          </a:xfrm>
          <a:prstGeom prst="rect">
            <a:avLst/>
          </a:prstGeom>
        </p:spPr>
      </p:pic>
      <p:sp>
        <p:nvSpPr>
          <p:cNvPr id="17495" name="TextBox 17494"/>
          <p:cNvSpPr txBox="1"/>
          <p:nvPr/>
        </p:nvSpPr>
        <p:spPr>
          <a:xfrm>
            <a:off x="5532048" y="4960000"/>
            <a:ext cx="1554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50" b="1">
                <a:solidFill>
                  <a:srgbClr val="6D4AFF"/>
                </a:solidFill>
                <a:latin typeface="Calibri"/>
              </a:rPr>
              <a:t>LIVE NATIVE AUDIO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5162048" y="5240000"/>
            <a:ext cx="1874000" cy="9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Gemini Live over WebSocket — camera and voice together, interruptible, on ephemeral tokens.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7296048" y="4750000"/>
            <a:ext cx="2214000" cy="1470000"/>
          </a:xfrm>
          <a:prstGeom prst="roundRect">
            <a:avLst>
              <a:gd name="adj" fmla="val 9000"/>
            </a:avLst>
          </a:prstGeom>
          <a:solidFill>
            <a:srgbClr val="EAF2FD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8" name="Rounded Rectangle 17497"/>
          <p:cNvSpPr/>
          <p:nvPr/>
        </p:nvSpPr>
        <p:spPr>
          <a:xfrm>
            <a:off x="7296048" y="4750000"/>
            <a:ext cx="2214000" cy="60000"/>
          </a:xfrm>
          <a:prstGeom prst="roundRect">
            <a:avLst>
              <a:gd name="adj" fmla="val 9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99" name="Picture 17498" descr="icon_i_lang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66048" y="4910000"/>
            <a:ext cx="300000" cy="300000"/>
          </a:xfrm>
          <a:prstGeom prst="rect">
            <a:avLst/>
          </a:prstGeom>
        </p:spPr>
      </p:pic>
      <p:sp>
        <p:nvSpPr>
          <p:cNvPr id="17500" name="TextBox 17499"/>
          <p:cNvSpPr txBox="1"/>
          <p:nvPr/>
        </p:nvSpPr>
        <p:spPr>
          <a:xfrm>
            <a:off x="7836048" y="4960000"/>
            <a:ext cx="1554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Calibri"/>
              </a:rPr>
              <a:t>TRILINGUAL BY DESIGN</a:t>
            </a:r>
          </a:p>
        </p:txBody>
      </p:sp>
      <p:sp>
        <p:nvSpPr>
          <p:cNvPr id="17501" name="TextBox 17500"/>
          <p:cNvSpPr txBox="1"/>
          <p:nvPr/>
        </p:nvSpPr>
        <p:spPr>
          <a:xfrm>
            <a:off x="7466048" y="5240000"/>
            <a:ext cx="1874000" cy="9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English, हिन्दी and मराठी across the UI, the wake word, speech and every AI reply.</a:t>
            </a:r>
          </a:p>
        </p:txBody>
      </p:sp>
      <p:sp>
        <p:nvSpPr>
          <p:cNvPr id="17502" name="Rounded Rectangle 17501"/>
          <p:cNvSpPr/>
          <p:nvPr/>
        </p:nvSpPr>
        <p:spPr>
          <a:xfrm>
            <a:off x="9600048" y="4750000"/>
            <a:ext cx="2214000" cy="1470000"/>
          </a:xfrm>
          <a:prstGeom prst="roundRect">
            <a:avLst>
              <a:gd name="adj" fmla="val 9000"/>
            </a:avLst>
          </a:prstGeom>
          <a:solidFill>
            <a:srgbClr val="E6F6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3" name="Rounded Rectangle 17502"/>
          <p:cNvSpPr/>
          <p:nvPr/>
        </p:nvSpPr>
        <p:spPr>
          <a:xfrm>
            <a:off x="9600048" y="4750000"/>
            <a:ext cx="2214000" cy="60000"/>
          </a:xfrm>
          <a:prstGeom prst="roundRect">
            <a:avLst>
              <a:gd name="adj" fmla="val 9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504" name="Picture 17503" descr="icon_i_fall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70048" y="4910000"/>
            <a:ext cx="300000" cy="300000"/>
          </a:xfrm>
          <a:prstGeom prst="rect">
            <a:avLst/>
          </a:prstGeom>
        </p:spPr>
      </p:pic>
      <p:sp>
        <p:nvSpPr>
          <p:cNvPr id="17505" name="TextBox 17504"/>
          <p:cNvSpPr txBox="1"/>
          <p:nvPr/>
        </p:nvSpPr>
        <p:spPr>
          <a:xfrm>
            <a:off x="10140048" y="4960000"/>
            <a:ext cx="1554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50" b="1">
                <a:solidFill>
                  <a:srgbClr val="0891B2"/>
                </a:solidFill>
                <a:latin typeface="Calibri"/>
              </a:rPr>
              <a:t>RESILIENT AI LAYER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9770048" y="5240000"/>
            <a:ext cx="1874000" cy="9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41536B"/>
                </a:solidFill>
                <a:latin typeface="Calibri"/>
              </a:rPr>
              <a:t>A four-model Gemini fallback chain keeps a session alive when one model is rate-limited.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1">
                <a:solidFill>
                  <a:srgbClr val="1F497D"/>
                </a:solidFill>
                <a:latin typeface="Arial"/>
              </a:rPr>
              <a:t>Prime Innovators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384048" y="1190000"/>
            <a:ext cx="11430000" cy="4600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123A6B"/>
              </a:gs>
              <a:gs pos="100000">
                <a:srgbClr val="0E9F6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11" name="Picture 17410" descr="icon_m_au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048" y="1295000"/>
            <a:ext cx="250000" cy="25000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824048" y="1190000"/>
            <a:ext cx="10810000" cy="4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spc="90">
                <a:solidFill>
                  <a:srgbClr val="BFE6D6"/>
                </a:solidFill>
                <a:latin typeface="Calibri"/>
              </a:rPr>
              <a:t>WHO IT IS FOR   </a:t>
            </a:r>
            <a:r>
              <a:rPr sz="1200" b="0">
                <a:solidFill>
                  <a:srgbClr val="FFFFFF"/>
                </a:solidFill>
                <a:latin typeface="Calibri"/>
              </a:rPr>
              <a:t>People with low vision who already carry an Android phone — and the sighted volunteers who choose to answer when the AI is not sure.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84048" y="1750000"/>
            <a:ext cx="1143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23A6B"/>
                </a:solidFill>
                <a:latin typeface="Calibri"/>
              </a:rPr>
              <a:t>ONE REAL MOMENT  ·  8 P.M. AT A BUS STOP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84048" y="1980000"/>
            <a:ext cx="3400000" cy="2430000"/>
          </a:xfrm>
          <a:prstGeom prst="roundRect">
            <a:avLst>
              <a:gd name="adj" fmla="val 9000"/>
            </a:avLst>
          </a:prstGeom>
          <a:solidFill>
            <a:srgbClr val="FDEDED"/>
          </a:solidFill>
          <a:ln w="12700">
            <a:solidFill>
              <a:srgbClr val="F0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384048" y="1980000"/>
            <a:ext cx="3400000" cy="60000"/>
          </a:xfrm>
          <a:prstGeom prst="roundRect">
            <a:avLst>
              <a:gd name="adj" fmla="val 9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16" name="Picture 17415" descr="icon_m_befor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4048" y="2130000"/>
            <a:ext cx="280000" cy="28000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884048" y="2170000"/>
            <a:ext cx="26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spc="120">
                <a:solidFill>
                  <a:srgbClr val="D93A3A"/>
                </a:solidFill>
                <a:latin typeface="Calibri"/>
              </a:rPr>
              <a:t>BEFORE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4048" y="2510000"/>
            <a:ext cx="296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D93A3A"/>
                </a:solidFill>
                <a:latin typeface="Calibri"/>
              </a:rPr>
              <a:t>•  </a:t>
            </a:r>
            <a:r>
              <a:rPr sz="1000" b="0">
                <a:solidFill>
                  <a:srgbClr val="41536B"/>
                </a:solidFill>
                <a:latin typeface="Calibri"/>
              </a:rPr>
              <a:t>A bus pulls in. She cannot read the number.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4048" y="2950000"/>
            <a:ext cx="296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D93A3A"/>
                </a:solidFill>
                <a:latin typeface="Calibri"/>
              </a:rPr>
              <a:t>•  </a:t>
            </a:r>
            <a:r>
              <a:rPr sz="1000" b="0">
                <a:solidFill>
                  <a:srgbClr val="41536B"/>
                </a:solidFill>
                <a:latin typeface="Calibri"/>
              </a:rPr>
              <a:t>She looks for someone to ask — tonight nobody is there.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44048" y="3390000"/>
            <a:ext cx="296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D93A3A"/>
                </a:solidFill>
                <a:latin typeface="Calibri"/>
              </a:rPr>
              <a:t>•  </a:t>
            </a:r>
            <a:r>
              <a:rPr sz="1000" b="0">
                <a:solidFill>
                  <a:srgbClr val="41536B"/>
                </a:solidFill>
                <a:latin typeface="Calibri"/>
              </a:rPr>
              <a:t>The bus leaves. She waits, and asks the next stranger.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44048" y="3830000"/>
            <a:ext cx="296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D93A3A"/>
                </a:solidFill>
                <a:latin typeface="Calibri"/>
              </a:rPr>
              <a:t>•  </a:t>
            </a:r>
            <a:r>
              <a:rPr sz="1000" b="0">
                <a:solidFill>
                  <a:srgbClr val="41536B"/>
                </a:solidFill>
                <a:latin typeface="Calibri"/>
              </a:rPr>
              <a:t>A dedicated reading device costs money and is one more thing to carry.</a:t>
            </a:r>
          </a:p>
        </p:txBody>
      </p:sp>
      <p:sp>
        <p:nvSpPr>
          <p:cNvPr id="17422" name="Isosceles Triangle 17421"/>
          <p:cNvSpPr/>
          <p:nvPr/>
        </p:nvSpPr>
        <p:spPr>
          <a:xfrm rot="5400000">
            <a:off x="3900000" y="3050000"/>
            <a:ext cx="220000" cy="220000"/>
          </a:xfrm>
          <a:prstGeom prst="triangle">
            <a:avLst/>
          </a:prstGeom>
          <a:solidFill>
            <a:srgbClr val="9FB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4280000" y="1980000"/>
            <a:ext cx="7534048" cy="2430000"/>
          </a:xfrm>
          <a:prstGeom prst="roundRect">
            <a:avLst>
              <a:gd name="adj" fmla="val 9000"/>
            </a:avLst>
          </a:prstGeom>
          <a:solidFill>
            <a:srgbClr val="E9F7EF"/>
          </a:solidFill>
          <a:ln w="12700">
            <a:solidFill>
              <a:srgbClr val="BF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4280000" y="1980000"/>
            <a:ext cx="7534048" cy="60000"/>
          </a:xfrm>
          <a:prstGeom prst="roundRect">
            <a:avLst>
              <a:gd name="adj" fmla="val 90000"/>
            </a:avLst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25" name="Picture 17424" descr="icon_m_af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0000" y="2130000"/>
            <a:ext cx="280000" cy="28000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4780000" y="2170000"/>
            <a:ext cx="32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spc="120">
                <a:solidFill>
                  <a:srgbClr val="178A4C"/>
                </a:solidFill>
                <a:latin typeface="Calibri"/>
              </a:rPr>
              <a:t>WITH VISIONBRIDGE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540000" y="2510000"/>
            <a:ext cx="43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78A4C"/>
                </a:solidFill>
                <a:latin typeface="Calibri"/>
              </a:rPr>
              <a:t>•  </a:t>
            </a:r>
            <a:r>
              <a:rPr sz="1000" b="0">
                <a:solidFill>
                  <a:srgbClr val="41536B"/>
                </a:solidFill>
                <a:latin typeface="Calibri"/>
              </a:rPr>
              <a:t>She says “Vision, which bus is this?” — no menus, no screen to find.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540000" y="2950000"/>
            <a:ext cx="43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78A4C"/>
                </a:solidFill>
                <a:latin typeface="Calibri"/>
              </a:rPr>
              <a:t>•  </a:t>
            </a:r>
            <a:r>
              <a:rPr sz="1000" b="0">
                <a:solidFill>
                  <a:srgbClr val="41536B"/>
                </a:solidFill>
                <a:latin typeface="Calibri"/>
              </a:rPr>
              <a:t>The Public Transport assistant opens and the camera captures the board.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540000" y="3390000"/>
            <a:ext cx="43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78A4C"/>
                </a:solidFill>
                <a:latin typeface="Calibri"/>
              </a:rPr>
              <a:t>•  </a:t>
            </a:r>
            <a:r>
              <a:rPr sz="1000" b="0">
                <a:solidFill>
                  <a:srgbClr val="41536B"/>
                </a:solidFill>
                <a:latin typeface="Calibri"/>
              </a:rPr>
              <a:t>Gemini reads it and the answer is spoken in her language: route 42.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540000" y="3830000"/>
            <a:ext cx="43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78A4C"/>
                </a:solidFill>
                <a:latin typeface="Calibri"/>
              </a:rPr>
              <a:t>•  </a:t>
            </a:r>
            <a:r>
              <a:rPr sz="1000" b="0">
                <a:solidFill>
                  <a:srgbClr val="41536B"/>
                </a:solidFill>
                <a:latin typeface="Calibri"/>
              </a:rPr>
              <a:t>If the frame is too dark to be sure, the app says so and offers a volunteer.</a:t>
            </a:r>
          </a:p>
        </p:txBody>
      </p:sp>
      <p:pic>
        <p:nvPicPr>
          <p:cNvPr id="17431" name="Picture 17430" descr="phone_transpo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80000" y="2075000"/>
            <a:ext cx="1153504" cy="2240000"/>
          </a:xfrm>
          <a:prstGeom prst="rect">
            <a:avLst/>
          </a:prstGeom>
        </p:spPr>
      </p:pic>
      <p:pic>
        <p:nvPicPr>
          <p:cNvPr id="17432" name="Picture 17431" descr="phone_liv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90000" y="2075000"/>
            <a:ext cx="1153504" cy="2240000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384048" y="4520000"/>
            <a:ext cx="1143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23A6B"/>
                </a:solidFill>
                <a:latin typeface="Calibri"/>
              </a:rPr>
              <a:t>WHAT CHANGES FOR THE USER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84048" y="4750000"/>
            <a:ext cx="1838333" cy="830000"/>
          </a:xfrm>
          <a:prstGeom prst="roundRect">
            <a:avLst>
              <a:gd name="adj" fmla="val 13000"/>
            </a:avLst>
          </a:prstGeom>
          <a:solidFill>
            <a:srgbClr val="E7F7F1"/>
          </a:solidFill>
          <a:ln w="9525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35" name="Picture 17434" descr="icon_m_inde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048" y="4815000"/>
            <a:ext cx="250000" cy="25000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754048" y="4855000"/>
            <a:ext cx="1358333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9F6E"/>
                </a:solidFill>
                <a:latin typeface="Calibri"/>
              </a:rPr>
              <a:t>Greater independence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34048" y="5100000"/>
            <a:ext cx="1538333" cy="4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Reading a label or finding a bus stops depending on somebody else being free.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2302381" y="4750000"/>
            <a:ext cx="1838333" cy="830000"/>
          </a:xfrm>
          <a:prstGeom prst="roundRect">
            <a:avLst>
              <a:gd name="adj" fmla="val 13000"/>
            </a:avLst>
          </a:prstGeom>
          <a:solidFill>
            <a:srgbClr val="EAF2FD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39" name="Picture 17438" descr="icon_m_de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77381" y="4815000"/>
            <a:ext cx="250000" cy="250000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2672381" y="4855000"/>
            <a:ext cx="1358333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Calibri"/>
              </a:rPr>
              <a:t>Fewer things to ask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2452381" y="5100000"/>
            <a:ext cx="1538333" cy="4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Reading, transport, money, objects, location and help sit behind one sentence.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220714" y="4750000"/>
            <a:ext cx="1838333" cy="830000"/>
          </a:xfrm>
          <a:prstGeom prst="roundRect">
            <a:avLst>
              <a:gd name="adj" fmla="val 13000"/>
            </a:avLst>
          </a:prstGeom>
          <a:solidFill>
            <a:srgbClr val="FFF3EA"/>
          </a:solidFill>
          <a:ln w="9525">
            <a:solidFill>
              <a:srgbClr val="EA6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43" name="Picture 17442" descr="icon_m_saf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95714" y="4815000"/>
            <a:ext cx="250000" cy="250000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4590714" y="4855000"/>
            <a:ext cx="1358333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EA6A1E"/>
                </a:solidFill>
                <a:latin typeface="Calibri"/>
              </a:rPr>
              <a:t>Safer daily movement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370714" y="5100000"/>
            <a:ext cx="1538333" cy="4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Background hazard scanning interrupts to warn before she reaches an obstacle.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6139048" y="4750000"/>
            <a:ext cx="1838333" cy="830000"/>
          </a:xfrm>
          <a:prstGeom prst="roundRect">
            <a:avLst>
              <a:gd name="adj" fmla="val 13000"/>
            </a:avLst>
          </a:prstGeom>
          <a:solidFill>
            <a:srgbClr val="F0ECFF"/>
          </a:solidFill>
          <a:ln w="9525">
            <a:solidFill>
              <a:srgbClr val="6D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47" name="Picture 17446" descr="icon_m_info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4048" y="4815000"/>
            <a:ext cx="250000" cy="250000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6509048" y="4855000"/>
            <a:ext cx="1358333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FF"/>
                </a:solidFill>
                <a:latin typeface="Calibri"/>
              </a:rPr>
              <a:t>Access to information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289048" y="5100000"/>
            <a:ext cx="1538333" cy="4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News, stories and radio arrive as speech, not as text she cannot read.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8057381" y="4750000"/>
            <a:ext cx="1838333" cy="830000"/>
          </a:xfrm>
          <a:prstGeom prst="roundRect">
            <a:avLst>
              <a:gd name="adj" fmla="val 13000"/>
            </a:avLst>
          </a:prstGeom>
          <a:solidFill>
            <a:srgbClr val="E9F7EF"/>
          </a:solidFill>
          <a:ln w="9525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51" name="Picture 17450" descr="icon_m_cos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32381" y="4815000"/>
            <a:ext cx="250000" cy="250000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8427381" y="4855000"/>
            <a:ext cx="1358333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78A4C"/>
                </a:solidFill>
                <a:latin typeface="Calibri"/>
              </a:rPr>
              <a:t>Affordable by design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8207381" y="5100000"/>
            <a:ext cx="1538333" cy="4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No device to buy or charge — it installs on the Android phone she owns.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9975714" y="4750000"/>
            <a:ext cx="1838333" cy="830000"/>
          </a:xfrm>
          <a:prstGeom prst="roundRect">
            <a:avLst>
              <a:gd name="adj" fmla="val 13000"/>
            </a:avLst>
          </a:prstGeom>
          <a:solidFill>
            <a:srgbClr val="FDEDED"/>
          </a:solidFill>
          <a:ln w="9525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55" name="Picture 17454" descr="icon_m_human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50714" y="4815000"/>
            <a:ext cx="250000" cy="250000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10345714" y="4855000"/>
            <a:ext cx="1358333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D93A3A"/>
                </a:solidFill>
                <a:latin typeface="Calibri"/>
              </a:rPr>
              <a:t>A human safety net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10125714" y="5100000"/>
            <a:ext cx="1538333" cy="4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A live volunteer takes over instead of a confident wrong answer, in the same app.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384048" y="5680000"/>
            <a:ext cx="7300000" cy="560000"/>
          </a:xfrm>
          <a:prstGeom prst="roundRect">
            <a:avLst>
              <a:gd name="adj" fmla="val 15000"/>
            </a:avLst>
          </a:prstGeom>
          <a:solidFill>
            <a:srgbClr val="F1F5FA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584048" y="5680000"/>
            <a:ext cx="690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spc="80">
                <a:solidFill>
                  <a:srgbClr val="D93A3A"/>
                </a:solidFill>
                <a:latin typeface="Calibri"/>
              </a:rPr>
              <a:t>WHAT WE DO NOT CLAIM   </a:t>
            </a:r>
            <a:r>
              <a:rPr sz="850" b="0">
                <a:solidFill>
                  <a:srgbClr val="41536B"/>
                </a:solidFill>
                <a:latin typeface="Calibri"/>
              </a:rPr>
              <a:t>No clinical accuracy, no guaranteed hazard detection, no offline operation, no user numbers — and no replacement for a cane, a guide or a doctor.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7780000" y="5680000"/>
            <a:ext cx="4034048" cy="5600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123A6B"/>
              </a:gs>
              <a:gs pos="100000">
                <a:srgbClr val="1F5FA9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880000" y="5680000"/>
            <a:ext cx="3834048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One phone.  One word.  A more independent everyday life.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FEASIBILITY, FUTURE SCOPE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1">
                <a:solidFill>
                  <a:srgbClr val="1F497D"/>
                </a:solidFill>
                <a:latin typeface="Arial"/>
              </a:rPr>
              <a:t>Prime Innovators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84048" y="1190000"/>
            <a:ext cx="1143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23A6B"/>
                </a:solidFill>
                <a:latin typeface="Calibri"/>
              </a:rPr>
              <a:t>WHY IT IS FEASIBLE  ·  NOTHING EXOTIC TO PROCURE, NOTHING TO TRAIN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84048" y="1420000"/>
            <a:ext cx="2745000" cy="940000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12" name="Picture 17411" descr="icon_z_phon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4048" y="1570000"/>
            <a:ext cx="300000" cy="30000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84048" y="1620000"/>
            <a:ext cx="2125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50">
                <a:solidFill>
                  <a:srgbClr val="2563EB"/>
                </a:solidFill>
                <a:latin typeface="Calibri"/>
              </a:rPr>
              <a:t>AN ANDROID PHONE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84048" y="1920000"/>
            <a:ext cx="2345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>
                <a:solidFill>
                  <a:srgbClr val="41536B"/>
                </a:solidFill>
                <a:latin typeface="Calibri"/>
              </a:rPr>
              <a:t>minSdk 24 reaches almost any phone in use today. Nothing to manufacture, buy or charge.</a:t>
            </a:r>
          </a:p>
        </p:txBody>
      </p:sp>
      <p:sp>
        <p:nvSpPr>
          <p:cNvPr id="17415" name="Isosceles Triangle 17414"/>
          <p:cNvSpPr/>
          <p:nvPr/>
        </p:nvSpPr>
        <p:spPr>
          <a:xfrm rot="5400000">
            <a:off x="3149048" y="1830000"/>
            <a:ext cx="110000" cy="110000"/>
          </a:xfrm>
          <a:prstGeom prst="triangle">
            <a:avLst/>
          </a:prstGeom>
          <a:solidFill>
            <a:srgbClr val="9FB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3279048" y="1420000"/>
            <a:ext cx="2745000" cy="940000"/>
          </a:xfrm>
          <a:prstGeom prst="roundRect">
            <a:avLst>
              <a:gd name="adj" fmla="val 12000"/>
            </a:avLst>
          </a:prstGeom>
          <a:solidFill>
            <a:srgbClr val="F0ECFF"/>
          </a:solidFill>
          <a:ln w="12700">
            <a:solidFill>
              <a:srgbClr val="6D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17" name="Picture 17416" descr="icon_z_api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19048" y="1570000"/>
            <a:ext cx="300000" cy="30000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3779048" y="1620000"/>
            <a:ext cx="2125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50">
                <a:solidFill>
                  <a:srgbClr val="6D4AFF"/>
                </a:solidFill>
                <a:latin typeface="Calibri"/>
              </a:rPr>
              <a:t>APIs ALREADY IN ANDROID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479048" y="1920000"/>
            <a:ext cx="2345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>
                <a:solidFill>
                  <a:srgbClr val="41536B"/>
                </a:solidFill>
                <a:latin typeface="Calibri"/>
              </a:rPr>
              <a:t>CameraX, SpeechRecognizer, TextToSpeech, location and Media3 all ship with the platform.</a:t>
            </a:r>
          </a:p>
        </p:txBody>
      </p:sp>
      <p:sp>
        <p:nvSpPr>
          <p:cNvPr id="17420" name="Isosceles Triangle 17419"/>
          <p:cNvSpPr/>
          <p:nvPr/>
        </p:nvSpPr>
        <p:spPr>
          <a:xfrm rot="5400000">
            <a:off x="6044048" y="1830000"/>
            <a:ext cx="110000" cy="110000"/>
          </a:xfrm>
          <a:prstGeom prst="triangle">
            <a:avLst/>
          </a:prstGeom>
          <a:solidFill>
            <a:srgbClr val="9FB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174048" y="1420000"/>
            <a:ext cx="2745000" cy="940000"/>
          </a:xfrm>
          <a:prstGeom prst="roundRect">
            <a:avLst>
              <a:gd name="adj" fmla="val 12000"/>
            </a:avLst>
          </a:prstGeom>
          <a:solidFill>
            <a:srgbClr val="E7F7F1"/>
          </a:solidFill>
          <a:ln w="1270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22" name="Picture 17421" descr="icon_z_clou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4048" y="1570000"/>
            <a:ext cx="300000" cy="300000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6674048" y="1620000"/>
            <a:ext cx="2125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50">
                <a:solidFill>
                  <a:srgbClr val="0E9F6E"/>
                </a:solidFill>
                <a:latin typeface="Calibri"/>
              </a:rPr>
              <a:t>MANAGED CLOUD + GEMINI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374048" y="1920000"/>
            <a:ext cx="2345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>
                <a:solidFill>
                  <a:srgbClr val="41536B"/>
                </a:solidFill>
                <a:latin typeface="Calibri"/>
              </a:rPr>
              <a:t>Supabase and the Gemini API are called through official SDKs — no dataset, no GPU, no training.</a:t>
            </a:r>
          </a:p>
        </p:txBody>
      </p:sp>
      <p:sp>
        <p:nvSpPr>
          <p:cNvPr id="17425" name="Isosceles Triangle 17424"/>
          <p:cNvSpPr/>
          <p:nvPr/>
        </p:nvSpPr>
        <p:spPr>
          <a:xfrm rot="5400000">
            <a:off x="8939048" y="1830000"/>
            <a:ext cx="110000" cy="110000"/>
          </a:xfrm>
          <a:prstGeom prst="triangle">
            <a:avLst/>
          </a:prstGeom>
          <a:solidFill>
            <a:srgbClr val="9FB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9069048" y="1420000"/>
            <a:ext cx="2745000" cy="940000"/>
          </a:xfrm>
          <a:prstGeom prst="roundRect">
            <a:avLst>
              <a:gd name="adj" fmla="val 12000"/>
            </a:avLst>
          </a:prstGeom>
          <a:solidFill>
            <a:srgbClr val="FFF3EA"/>
          </a:solidFill>
          <a:ln w="12700">
            <a:solidFill>
              <a:srgbClr val="EA6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27" name="Picture 17426" descr="icon_z_scal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09048" y="1570000"/>
            <a:ext cx="300000" cy="300000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9569048" y="1620000"/>
            <a:ext cx="2125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50">
                <a:solidFill>
                  <a:srgbClr val="EA6A1E"/>
                </a:solidFill>
                <a:latin typeface="Calibri"/>
              </a:rPr>
              <a:t>A PLATFORM THAT SCALES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269048" y="1920000"/>
            <a:ext cx="2345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>
                <a:solidFill>
                  <a:srgbClr val="41536B"/>
                </a:solidFill>
                <a:latin typeface="Calibri"/>
              </a:rPr>
              <a:t>Each assistant is its own screen, function and prompt, so a new one disturbs nothing else.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84048" y="2470000"/>
            <a:ext cx="1143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23A6B"/>
                </a:solidFill>
                <a:latin typeface="Calibri"/>
              </a:rPr>
              <a:t>RISKS WE ACTUALLY HAVE  →  AND HOW THE BUILD HANDLES THEM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84048" y="2700000"/>
            <a:ext cx="2790000" cy="940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B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384048" y="2700000"/>
            <a:ext cx="2790000" cy="56000"/>
          </a:xfrm>
          <a:prstGeom prst="roundRect">
            <a:avLst>
              <a:gd name="adj" fmla="val 90000"/>
            </a:avLst>
          </a:prstGeom>
          <a:solidFill>
            <a:srgbClr val="C8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554048" y="2830000"/>
            <a:ext cx="245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50" b="1">
                <a:solidFill>
                  <a:srgbClr val="8A5A06"/>
                </a:solidFill>
                <a:latin typeface="Calibri"/>
              </a:rPr>
              <a:t>A confident wrong answer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54048" y="3090000"/>
            <a:ext cx="245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>
                <a:solidFill>
                  <a:srgbClr val="41536B"/>
                </a:solidFill>
                <a:latin typeface="Calibri"/>
              </a:rPr>
              <a:t>Every vision result carries a confidence score; below 0.70 the app stops and offers a volunteer.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264048" y="2700000"/>
            <a:ext cx="2790000" cy="940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B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3264048" y="2700000"/>
            <a:ext cx="2790000" cy="56000"/>
          </a:xfrm>
          <a:prstGeom prst="roundRect">
            <a:avLst>
              <a:gd name="adj" fmla="val 90000"/>
            </a:avLst>
          </a:prstGeom>
          <a:solidFill>
            <a:srgbClr val="C8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3434048" y="2830000"/>
            <a:ext cx="245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50" b="1">
                <a:solidFill>
                  <a:srgbClr val="8A5A06"/>
                </a:solidFill>
                <a:latin typeface="Calibri"/>
              </a:rPr>
              <a:t>API quota and rate limits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434048" y="3090000"/>
            <a:ext cx="245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>
                <a:solidFill>
                  <a:srgbClr val="41536B"/>
                </a:solidFill>
                <a:latin typeface="Calibri"/>
              </a:rPr>
              <a:t>A four-model Gemini candidate chain fails over automatically inside one request.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44048" y="2700000"/>
            <a:ext cx="2790000" cy="940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B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6144048" y="2700000"/>
            <a:ext cx="2790000" cy="56000"/>
          </a:xfrm>
          <a:prstGeom prst="roundRect">
            <a:avLst>
              <a:gd name="adj" fmla="val 90000"/>
            </a:avLst>
          </a:prstGeom>
          <a:solidFill>
            <a:srgbClr val="C8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6314048" y="2830000"/>
            <a:ext cx="245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50" b="1">
                <a:solidFill>
                  <a:srgbClr val="8A5A06"/>
                </a:solidFill>
                <a:latin typeface="Calibri"/>
              </a:rPr>
              <a:t>No offline operation today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314048" y="3090000"/>
            <a:ext cx="245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>
                <a:solidFill>
                  <a:srgbClr val="41536B"/>
                </a:solidFill>
                <a:latin typeface="Calibri"/>
              </a:rPr>
              <a:t>Acknowledged, not hidden. On-device hazard warnings are listed as future scope.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9024048" y="2700000"/>
            <a:ext cx="2790000" cy="940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B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4" name="Rounded Rectangle 17443"/>
          <p:cNvSpPr/>
          <p:nvPr/>
        </p:nvSpPr>
        <p:spPr>
          <a:xfrm>
            <a:off x="9024048" y="2700000"/>
            <a:ext cx="2790000" cy="56000"/>
          </a:xfrm>
          <a:prstGeom prst="roundRect">
            <a:avLst>
              <a:gd name="adj" fmla="val 90000"/>
            </a:avLst>
          </a:prstGeom>
          <a:solidFill>
            <a:srgbClr val="C8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9194048" y="2830000"/>
            <a:ext cx="245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50" b="1">
                <a:solidFill>
                  <a:srgbClr val="8A5A06"/>
                </a:solidFill>
                <a:latin typeface="Calibri"/>
              </a:rPr>
              <a:t>Camera, voice and location privacy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9194048" y="3090000"/>
            <a:ext cx="245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>
                <a:solidFill>
                  <a:srgbClr val="41536B"/>
                </a:solidFill>
                <a:latin typeface="Calibri"/>
              </a:rPr>
              <a:t>Keys stay in Supabase secrets; Postgres row-level security scopes every row to its owner.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384048" y="3760000"/>
            <a:ext cx="500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EA6A1E"/>
                </a:solidFill>
                <a:latin typeface="Calibri"/>
              </a:rPr>
              <a:t>FUTURE SCOPE  ·  NOT YET BUILT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84048" y="3990000"/>
            <a:ext cx="1606666" cy="390000"/>
          </a:xfrm>
          <a:prstGeom prst="roundRect">
            <a:avLst>
              <a:gd name="adj" fmla="val 30000"/>
            </a:avLst>
          </a:prstGeom>
          <a:solidFill>
            <a:srgbClr val="FFF3EA"/>
          </a:solidFill>
          <a:ln w="9525">
            <a:solidFill>
              <a:srgbClr val="F5C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474048" y="3990000"/>
            <a:ext cx="1426666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850" b="1">
                <a:solidFill>
                  <a:srgbClr val="A24D12"/>
                </a:solidFill>
                <a:latin typeface="Calibri"/>
              </a:rPr>
              <a:t>More Indian languages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2080714" y="3990000"/>
            <a:ext cx="1606666" cy="390000"/>
          </a:xfrm>
          <a:prstGeom prst="roundRect">
            <a:avLst>
              <a:gd name="adj" fmla="val 30000"/>
            </a:avLst>
          </a:prstGeom>
          <a:solidFill>
            <a:srgbClr val="FFF3EA"/>
          </a:solidFill>
          <a:ln w="9525">
            <a:solidFill>
              <a:srgbClr val="F5C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2170714" y="3990000"/>
            <a:ext cx="1426666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850" b="1">
                <a:solidFill>
                  <a:srgbClr val="A24D12"/>
                </a:solidFill>
                <a:latin typeface="Calibri"/>
              </a:rPr>
              <a:t>Offline hazard warnings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3777381" y="3990000"/>
            <a:ext cx="1606666" cy="390000"/>
          </a:xfrm>
          <a:prstGeom prst="roundRect">
            <a:avLst>
              <a:gd name="adj" fmla="val 30000"/>
            </a:avLst>
          </a:prstGeom>
          <a:solidFill>
            <a:srgbClr val="FFF3EA"/>
          </a:solidFill>
          <a:ln w="9525">
            <a:solidFill>
              <a:srgbClr val="F5C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3867381" y="3990000"/>
            <a:ext cx="1426666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850" b="1">
                <a:solidFill>
                  <a:srgbClr val="A24D12"/>
                </a:solidFill>
                <a:latin typeface="Calibri"/>
              </a:rPr>
              <a:t>Verified volunteer network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384048" y="4450000"/>
            <a:ext cx="1606666" cy="390000"/>
          </a:xfrm>
          <a:prstGeom prst="roundRect">
            <a:avLst>
              <a:gd name="adj" fmla="val 30000"/>
            </a:avLst>
          </a:prstGeom>
          <a:solidFill>
            <a:srgbClr val="FFF3EA"/>
          </a:solidFill>
          <a:ln w="9525">
            <a:solidFill>
              <a:srgbClr val="F5C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474048" y="4450000"/>
            <a:ext cx="1426666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850" b="1">
                <a:solidFill>
                  <a:srgbClr val="A24D12"/>
                </a:solidFill>
                <a:latin typeface="Calibri"/>
              </a:rPr>
              <a:t>Personalised routines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2080714" y="4450000"/>
            <a:ext cx="1606666" cy="390000"/>
          </a:xfrm>
          <a:prstGeom prst="roundRect">
            <a:avLst>
              <a:gd name="adj" fmla="val 30000"/>
            </a:avLst>
          </a:prstGeom>
          <a:solidFill>
            <a:srgbClr val="FFF3EA"/>
          </a:solidFill>
          <a:ln w="9525">
            <a:solidFill>
              <a:srgbClr val="F5C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2170714" y="4450000"/>
            <a:ext cx="1426666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850" b="1">
                <a:solidFill>
                  <a:srgbClr val="A24D12"/>
                </a:solidFill>
                <a:latin typeface="Calibri"/>
              </a:rPr>
              <a:t>Wider device support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3777381" y="4450000"/>
            <a:ext cx="1606666" cy="390000"/>
          </a:xfrm>
          <a:prstGeom prst="roundRect">
            <a:avLst>
              <a:gd name="adj" fmla="val 30000"/>
            </a:avLst>
          </a:prstGeom>
          <a:solidFill>
            <a:srgbClr val="FFF3EA"/>
          </a:solidFill>
          <a:ln w="9525">
            <a:solidFill>
              <a:srgbClr val="F5C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3867381" y="4450000"/>
            <a:ext cx="1426666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850" b="1">
                <a:solidFill>
                  <a:srgbClr val="A24D12"/>
                </a:solidFill>
                <a:latin typeface="Calibri"/>
              </a:rPr>
              <a:t>Improved AI reliability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384048" y="4920000"/>
            <a:ext cx="50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6B7C93"/>
                </a:solidFill>
                <a:latin typeface="Calibri"/>
              </a:rPr>
              <a:t>Clearly separated from everything above, which is implemented and running.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5600000" y="3760000"/>
            <a:ext cx="6214048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10">
                <a:solidFill>
                  <a:srgbClr val="1F5FA9"/>
                </a:solidFill>
                <a:latin typeface="Calibri"/>
              </a:rPr>
              <a:t>REFERENCES  ·  OFFICIAL DOCUMENTATION FOR WHAT IS BUILT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5600000" y="3990000"/>
            <a:ext cx="3052024" cy="1345000"/>
          </a:xfrm>
          <a:prstGeom prst="roundRect">
            <a:avLst>
              <a:gd name="adj" fmla="val 9000"/>
            </a:avLst>
          </a:prstGeom>
          <a:solidFill>
            <a:srgbClr val="F1F5FA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3" name="Rounded Rectangle 17462"/>
          <p:cNvSpPr/>
          <p:nvPr/>
        </p:nvSpPr>
        <p:spPr>
          <a:xfrm>
            <a:off x="5600000" y="3990000"/>
            <a:ext cx="3052024" cy="54000"/>
          </a:xfrm>
          <a:prstGeom prst="roundRect">
            <a:avLst>
              <a:gd name="adj" fmla="val 90000"/>
            </a:avLst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5770000" y="4110000"/>
            <a:ext cx="2712024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spc="90">
                <a:solidFill>
                  <a:srgbClr val="1F5FA9"/>
                </a:solidFill>
                <a:latin typeface="Calibri"/>
              </a:rPr>
              <a:t>ANDROID  ·  LANGUAGE  ·  MEDIA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5770000" y="4340000"/>
            <a:ext cx="2712024" cy="8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Kotlin  ·  kotlinlang.org/docs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Jetpack Compose  ·  developer.android.com/compose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Navigation Compose  ·  developer.android.com/navigation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CameraX  ·  developer.android.com/camerax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SpeechRecognizer + TTS  ·  developer.android.com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Media3 / ExoPlayer  ·  developer.android.com/media3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8762024" y="3990000"/>
            <a:ext cx="3052024" cy="1345000"/>
          </a:xfrm>
          <a:prstGeom prst="roundRect">
            <a:avLst>
              <a:gd name="adj" fmla="val 9000"/>
            </a:avLst>
          </a:prstGeom>
          <a:solidFill>
            <a:srgbClr val="F1F5FA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7" name="Rounded Rectangle 17466"/>
          <p:cNvSpPr/>
          <p:nvPr/>
        </p:nvSpPr>
        <p:spPr>
          <a:xfrm>
            <a:off x="8762024" y="3990000"/>
            <a:ext cx="3052024" cy="54000"/>
          </a:xfrm>
          <a:prstGeom prst="roundRect">
            <a:avLst>
              <a:gd name="adj" fmla="val 90000"/>
            </a:avLst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8932024" y="4110000"/>
            <a:ext cx="2712024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spc="90">
                <a:solidFill>
                  <a:srgbClr val="1F5FA9"/>
                </a:solidFill>
                <a:latin typeface="Calibri"/>
              </a:rPr>
              <a:t>AI  ·  BACKEND  ·  SERVICES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932024" y="4340000"/>
            <a:ext cx="2712024" cy="8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Gemini API  ·  ai.google.dev/gemini-api/docs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Gemini Live API + ephemeral tokens  ·  ai.google.dev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Supabase Auth · Postgres · RLS  ·  supabase.com/docs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Supabase Edge Functions  ·  supabase.com/docs/functions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WebRTC  ·  webrtc.org      OkHttp  ·  square.github.io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800" b="0">
                <a:solidFill>
                  <a:srgbClr val="41536B"/>
                </a:solidFill>
                <a:latin typeface="Calibri"/>
              </a:rPr>
              <a:t>OpenStreetMap Nominatim + Overpass  ·  WhatsApp Cloud API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384048" y="5440000"/>
            <a:ext cx="3723333" cy="53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71" name="Picture 17470" descr="icon_l_gi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4048" y="5575000"/>
            <a:ext cx="260000" cy="260000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824048" y="5520000"/>
            <a:ext cx="3163333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GitHub Repository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824048" y="5697000"/>
            <a:ext cx="3163333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563EB"/>
                </a:solidFill>
                <a:latin typeface="Calibri"/>
              </a:rPr>
              <a:t>github.com/shailesh-pande01/visionbridge-ai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4237381" y="5440000"/>
            <a:ext cx="3723333" cy="53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75" name="Picture 17474" descr="icon_l_web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67381" y="5575000"/>
            <a:ext cx="260000" cy="260000"/>
          </a:xfrm>
          <a:prstGeom prst="rect">
            <a:avLst/>
          </a:prstGeom>
        </p:spPr>
      </p:pic>
      <p:sp>
        <p:nvSpPr>
          <p:cNvPr id="17476" name="TextBox 17475"/>
          <p:cNvSpPr txBox="1"/>
          <p:nvPr/>
        </p:nvSpPr>
        <p:spPr>
          <a:xfrm>
            <a:off x="4677381" y="5520000"/>
            <a:ext cx="3163333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Live Demo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4677381" y="5697000"/>
            <a:ext cx="3163333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563EB"/>
                </a:solidFill>
                <a:latin typeface="Calibri"/>
              </a:rPr>
              <a:t>visionbridge-ai.vercel.app</a:t>
            </a:r>
          </a:p>
        </p:txBody>
      </p:sp>
      <p:sp>
        <p:nvSpPr>
          <p:cNvPr id="17478" name="Rounded Rectangle 17477"/>
          <p:cNvSpPr/>
          <p:nvPr/>
        </p:nvSpPr>
        <p:spPr>
          <a:xfrm>
            <a:off x="8090714" y="5440000"/>
            <a:ext cx="3723333" cy="53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79" name="Picture 17478" descr="icon_l_play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0714" y="5575000"/>
            <a:ext cx="260000" cy="260000"/>
          </a:xfrm>
          <a:prstGeom prst="rect">
            <a:avLst/>
          </a:prstGeom>
        </p:spPr>
      </p:pic>
      <p:sp>
        <p:nvSpPr>
          <p:cNvPr id="17480" name="TextBox 17479"/>
          <p:cNvSpPr txBox="1"/>
          <p:nvPr/>
        </p:nvSpPr>
        <p:spPr>
          <a:xfrm>
            <a:off x="8530714" y="5520000"/>
            <a:ext cx="3163333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23A6B"/>
                </a:solidFill>
                <a:latin typeface="Calibri"/>
              </a:rPr>
              <a:t>Demo Video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8530714" y="5697000"/>
            <a:ext cx="3163333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563EB"/>
                </a:solidFill>
                <a:latin typeface="Calibri"/>
              </a:rPr>
              <a:t>YouTube Demo Video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384048" y="6055000"/>
            <a:ext cx="1143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7C93"/>
                </a:solidFill>
                <a:latin typeface="Calibri"/>
              </a:rPr>
              <a:t>Every reference above is the official documentation of a component already implemented in the VisionBridge Android app. No external studies, datasets or statistics are cited or claimed.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