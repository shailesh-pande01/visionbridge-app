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5.png"/><Relationship Id="rId11" Type="http://schemas.openxmlformats.org/officeDocument/2006/relationships/image" Target="../media/image4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8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4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26.png"/><Relationship Id="rId17" Type="http://schemas.openxmlformats.org/officeDocument/2006/relationships/image" Target="../media/image39.png"/><Relationship Id="rId2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42.png"/><Relationship Id="rId9" Type="http://schemas.openxmlformats.org/officeDocument/2006/relationships/image" Target="../media/image2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hyperlink" Target="https://youtu.be/ok7P_i5SeR4?si=RSto97QplXX83Guj" TargetMode="External"/><Relationship Id="rId6" Type="http://schemas.openxmlformats.org/officeDocument/2006/relationships/image" Target="../media/image52.png"/><Relationship Id="rId7" Type="http://schemas.openxmlformats.org/officeDocument/2006/relationships/hyperlink" Target="https://github.com/shailesh-pande01/visionbridge-app" TargetMode="External"/><Relationship Id="rId8" Type="http://schemas.openxmlformats.org/officeDocument/2006/relationships/image" Target="../media/image53.png"/><Relationship Id="rId9" Type="http://schemas.openxmlformats.org/officeDocument/2006/relationships/hyperlink" Target="https://visionbridge-ai.vercel.app" TargetMode="External"/><Relationship Id="rId10" Type="http://schemas.openxmlformats.org/officeDocument/2006/relationships/image" Target="../media/image4.png"/><Relationship Id="rId11" Type="http://schemas.openxmlformats.org/officeDocument/2006/relationships/image" Target="../media/image55.png"/><Relationship Id="rId12" Type="http://schemas.openxmlformats.org/officeDocument/2006/relationships/hyperlink" Target="https://www.who.int/news-room/fact-sheets/detail/blindness-and-visual-impairment" TargetMode="External"/><Relationship Id="rId13" Type="http://schemas.openxmlformats.org/officeDocument/2006/relationships/hyperlink" Target="https://doi.org/10.1371/journal.pone.0271736" TargetMode="External"/><Relationship Id="rId14" Type="http://schemas.openxmlformats.org/officeDocument/2006/relationships/hyperlink" Target="https://doi.org/10.1016/j.rcsop.2025.100581" TargetMode="External"/><Relationship Id="rId15" Type="http://schemas.openxmlformats.org/officeDocument/2006/relationships/hyperlink" Target="https://depwd.gov.in/en/acts/" TargetMode="External"/><Relationship Id="rId16" Type="http://schemas.openxmlformats.org/officeDocument/2006/relationships/hyperlink" Target="https://developer.android.com/media/camera/camerax" TargetMode="External"/><Relationship Id="rId17" Type="http://schemas.openxmlformats.org/officeDocument/2006/relationships/hyperlink" Target="https://developer.android.com/reference/android/speech/SpeechRecognizer" TargetMode="External"/><Relationship Id="rId18" Type="http://schemas.openxmlformats.org/officeDocument/2006/relationships/hyperlink" Target="https://developer.android.com/reference/android/speech/tts/TextToSpeech" TargetMode="External"/><Relationship Id="rId19" Type="http://schemas.openxmlformats.org/officeDocument/2006/relationships/hyperlink" Target="https://developer.android.com/compose" TargetMode="External"/><Relationship Id="rId20" Type="http://schemas.openxmlformats.org/officeDocument/2006/relationships/hyperlink" Target="https://developer.android.com/develop/background-work/services/alarms/schedule" TargetMode="External"/><Relationship Id="rId21" Type="http://schemas.openxmlformats.org/officeDocument/2006/relationships/hyperlink" Target="https://ai.google.dev/gemini-api/docs/structured-output" TargetMode="External"/><Relationship Id="rId22" Type="http://schemas.openxmlformats.org/officeDocument/2006/relationships/hyperlink" Target="https://ai.google.dev/gemini-api/docs/live" TargetMode="External"/><Relationship Id="rId23" Type="http://schemas.openxmlformats.org/officeDocument/2006/relationships/hyperlink" Target="https://ai.google.dev/gemini-api/docs/ephemeral-tokens" TargetMode="External"/><Relationship Id="rId24" Type="http://schemas.openxmlformats.org/officeDocument/2006/relationships/hyperlink" Target="https://supabase.com/docs/guides/database/postgres/row-level-security" TargetMode="External"/><Relationship Id="rId25" Type="http://schemas.openxmlformats.org/officeDocument/2006/relationships/hyperlink" Target="https://supabase.com/docs/guides/functions" TargetMode="External"/><Relationship Id="rId26" Type="http://schemas.openxmlformats.org/officeDocument/2006/relationships/hyperlink" Target="https://supabase.com/docs/guides/realtime" TargetMode="External"/><Relationship Id="rId27" Type="http://schemas.openxmlformats.org/officeDocument/2006/relationships/hyperlink" Target="https://webrtc.org/" TargetMode="External"/><Relationship Id="rId28" Type="http://schemas.openxmlformats.org/officeDocument/2006/relationships/hyperlink" Target="https://nominatim.org/release-docs/latest/api/Reverse/" TargetMode="External"/><Relationship Id="rId29" Type="http://schemas.openxmlformats.org/officeDocument/2006/relationships/hyperlink" Target="https://developers.facebook.com/docs/whatsapp/cloud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31286" y="870000"/>
            <a:ext cx="5924550" cy="420000"/>
          </a:xfrm>
        </p:spPr>
        <p:txBody>
          <a:bodyPr wrap="square"/>
          <a:lstStyle/>
          <a:p>
            <a:pPr algn="l"/>
            <a:r>
              <a:rPr sz="1400" b="1" spc="220">
                <a:solidFill>
                  <a:srgbClr val="6B7C93"/>
                </a:solidFill>
                <a:latin typeface="Calibr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EA005-A3D7-89C5-9590-DC05D4619F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38" name="Picture 37" descr="VisionBridg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1243584"/>
            <a:ext cx="1371600" cy="7340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847088" y="1152144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VisionBridge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1719072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NATIVE ANDROID ACCESSIBILITY COMPANION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2084831"/>
            <a:ext cx="4754880" cy="32918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2" name="Picture 41" descr="pillb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35124"/>
            <a:ext cx="228600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77240" y="2084831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Now with </a:t>
            </a:r>
            <a:r>
              <a:rPr sz="1200" b="1" i="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VisionBridge MedSafe</a:t>
            </a:r>
            <a:r>
              <a:rPr sz="1200" b="0" i="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 · accessible medicine-pack reading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523744"/>
            <a:ext cx="6272784" cy="969264"/>
          </a:xfrm>
          <a:prstGeom prst="roundRect">
            <a:avLst>
              <a:gd name="adj" fmla="val 13207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03504" y="2560320"/>
            <a:ext cx="585216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AI companion that helps people with low vision read, understand, move and stay safe — on the Android phone they already own.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When the AI is unsure, it says so and can connect a real person.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566160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Say “Vision…” in English · </a:t>
            </a:r>
            <a:r>
              <a:rPr sz="1200" b="0" i="0">
                <a:solidFill>
                  <a:srgbClr val="334155"/>
                </a:solidFill>
                <a:latin typeface="Calibri"/>
                <a:ea typeface="Calibri"/>
                <a:cs typeface="Nirmala UI"/>
              </a:rPr>
              <a:t>हिन्दी</a:t>
            </a:r>
            <a:r>
              <a:rPr sz="12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200" b="0" i="0">
                <a:solidFill>
                  <a:srgbClr val="334155"/>
                </a:solidFill>
                <a:latin typeface="Calibri"/>
                <a:ea typeface="Calibri"/>
                <a:cs typeface="Nirmala UI"/>
              </a:rPr>
              <a:t>मराठी</a:t>
            </a:r>
            <a:r>
              <a:rPr sz="12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  |   Android 7.0 and above   |   no extra hardware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931920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12064" y="3973068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PROBLEM STATEMENT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4133087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26198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47872" y="3931920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694176" y="3973068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PROBLEM STATEMENT TITLE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176" y="4133087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Student Innovation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462272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12064" y="4503420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THEME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" y="4663440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MedTech / BioTech / HealthTech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47872" y="4462272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694176" y="4503420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PS CATEGORY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4663440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Software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4992624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12064" y="5033772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TEAM 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" y="51937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135775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47872" y="4992624"/>
            <a:ext cx="309067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694176" y="5033772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TEAM NAME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94176" y="519379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Prime Innovators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5486400"/>
            <a:ext cx="11457432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603504" y="57058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7" name="Picture 66" descr="read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" y="5826556"/>
            <a:ext cx="307238" cy="30723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80160" y="5641848"/>
            <a:ext cx="14648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6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0160" y="5897880"/>
            <a:ext cx="146486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Printed text · medicine packs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99892" y="57058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1" name="Picture 70" descr="ey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0593" y="5826556"/>
            <a:ext cx="307238" cy="30723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476548" y="5641848"/>
            <a:ext cx="14648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6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6548" y="5897880"/>
            <a:ext cx="146486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Scenes · objects · money · live AI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96281" y="57058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5" name="Picture 74" descr="pin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6982" y="5826556"/>
            <a:ext cx="307238" cy="30723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672937" y="5641848"/>
            <a:ext cx="14648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6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72937" y="5897880"/>
            <a:ext cx="146486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Location · buses · obstacles ahead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92670" y="57058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9" name="Picture 78" descr="shieldche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3371" y="5826556"/>
            <a:ext cx="307238" cy="30723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869326" y="5641848"/>
            <a:ext cx="14648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6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STAY SAFE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9326" y="5897880"/>
            <a:ext cx="146486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SOS alert · medicine reminders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389059" y="57058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83" name="Picture 82" descr="handheart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0" y="5826556"/>
            <a:ext cx="307238" cy="30723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065715" y="5641848"/>
            <a:ext cx="14648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6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HUMAN HELP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65715" y="5897880"/>
            <a:ext cx="146486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Live video with a volunteer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28016"/>
            <a:ext cx="8001000" cy="896112"/>
          </a:xfrm>
        </p:spPr>
        <p:txBody>
          <a:bodyPr anchor="ctr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 /  PROPOSED SOLUTION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VisionBridge logo badge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C8E1C-5E80-6EA9-5539-221285AF09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15362" name="Picture 15361" descr="VisionBrid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414734"/>
            <a:ext cx="901337" cy="482356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1170432"/>
            <a:ext cx="11365992" cy="512064"/>
          </a:xfrm>
          <a:prstGeom prst="roundRect">
            <a:avLst>
              <a:gd name="adj" fmla="val 21428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228600" tIns="0" rIns="18288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VisionBridge</a:t>
            </a: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—  say “Vision…”, point the phone, hear the answer. When the AI is unsure, a real person can help.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1801368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THE PROBLEM · ONE DAY, MANY VISUAL BARRIERS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048256"/>
            <a:ext cx="3767328" cy="429768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521208" y="2048256"/>
            <a:ext cx="603504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08:00</a:t>
            </a:r>
          </a:p>
        </p:txBody>
      </p:sp>
      <p:pic>
        <p:nvPicPr>
          <p:cNvPr id="15367" name="Picture 15366" descr="pillb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144268"/>
            <a:ext cx="237744" cy="237744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1490472" y="2080260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Medicine strip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490472" y="2272284"/>
            <a:ext cx="26151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Name, dose and expiry too small to read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11480" y="2523744"/>
            <a:ext cx="3767328" cy="429768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1" name="TextBox 15370"/>
          <p:cNvSpPr txBox="1"/>
          <p:nvPr/>
        </p:nvSpPr>
        <p:spPr>
          <a:xfrm>
            <a:off x="521208" y="2523744"/>
            <a:ext cx="603504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09:30</a:t>
            </a:r>
          </a:p>
        </p:txBody>
      </p:sp>
      <p:pic>
        <p:nvPicPr>
          <p:cNvPr id="15372" name="Picture 15371" descr="bus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619756"/>
            <a:ext cx="237744" cy="237744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1490472" y="2555748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Bus stop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490472" y="2747772"/>
            <a:ext cx="26151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Which bus is this? Where is it going?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11480" y="2999232"/>
            <a:ext cx="3767328" cy="429768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521208" y="2999232"/>
            <a:ext cx="603504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11:00</a:t>
            </a:r>
          </a:p>
        </p:txBody>
      </p:sp>
      <p:pic>
        <p:nvPicPr>
          <p:cNvPr id="15377" name="Picture 15376" descr="footprints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095244"/>
            <a:ext cx="237744" cy="237744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1490472" y="3031236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Footpath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1490472" y="3223260"/>
            <a:ext cx="26151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 step or an obstacle just ahead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11480" y="3474720"/>
            <a:ext cx="3767328" cy="429768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521208" y="3474720"/>
            <a:ext cx="603504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15:00</a:t>
            </a:r>
          </a:p>
        </p:txBody>
      </p:sp>
      <p:pic>
        <p:nvPicPr>
          <p:cNvPr id="15382" name="Picture 15381" descr="money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570732"/>
            <a:ext cx="237744" cy="237744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1490472" y="3506724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Shop counter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1490472" y="3698748"/>
            <a:ext cx="26151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Which note did I get back?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411480" y="3950208"/>
            <a:ext cx="3767328" cy="429768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6" name="TextBox 15385"/>
          <p:cNvSpPr txBox="1"/>
          <p:nvPr/>
        </p:nvSpPr>
        <p:spPr>
          <a:xfrm>
            <a:off x="521208" y="3950208"/>
            <a:ext cx="603504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Any time</a:t>
            </a:r>
          </a:p>
        </p:txBody>
      </p:sp>
      <p:pic>
        <p:nvPicPr>
          <p:cNvPr id="15387" name="Picture 15386" descr="users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046220"/>
            <a:ext cx="237744" cy="237744"/>
          </a:xfrm>
          <a:prstGeom prst="rect">
            <a:avLst/>
          </a:prstGeom>
        </p:spPr>
      </p:pic>
      <p:sp>
        <p:nvSpPr>
          <p:cNvPr id="15388" name="TextBox 15387"/>
          <p:cNvSpPr txBox="1"/>
          <p:nvPr/>
        </p:nvSpPr>
        <p:spPr>
          <a:xfrm>
            <a:off x="1490472" y="3982212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“Where am I?”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1490472" y="4174236"/>
            <a:ext cx="26151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Help depends on someone being free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11480" y="4443983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539496" y="4443983"/>
            <a:ext cx="8412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81%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1399032" y="4498847"/>
            <a:ext cx="2688336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could not access medicine names and doses under simulated moderate vision loss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Merenda et al., 2025 · reference [3]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416552" y="1801368"/>
            <a:ext cx="7360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THE SOLUTION · ONE VOICE-FIRST COMPANION FOR FIVE EVERYDAY JOBS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4416552" y="2048256"/>
            <a:ext cx="1391716" cy="2688336"/>
          </a:xfrm>
          <a:prstGeom prst="roundRect">
            <a:avLst>
              <a:gd name="adj" fmla="val 657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5" name="Rounded Rectangle 15394"/>
          <p:cNvSpPr/>
          <p:nvPr/>
        </p:nvSpPr>
        <p:spPr>
          <a:xfrm>
            <a:off x="4498848" y="2157984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96" name="Picture 15395" descr="read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9315" y="2238451"/>
            <a:ext cx="204825" cy="204825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4919472" y="2139696"/>
            <a:ext cx="8613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4507992" y="2615184"/>
            <a:ext cx="12454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Hear printed words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4489704" y="290779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Smart Reading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4489704" y="327355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MedSafe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4507992" y="3657600"/>
            <a:ext cx="12271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NEW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Reads medicine packs · see slides 3–5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5908852" y="2048256"/>
            <a:ext cx="1391716" cy="2688336"/>
          </a:xfrm>
          <a:prstGeom prst="roundRect">
            <a:avLst>
              <a:gd name="adj" fmla="val 657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03" name="Rounded Rectangle 15402"/>
          <p:cNvSpPr/>
          <p:nvPr/>
        </p:nvSpPr>
        <p:spPr>
          <a:xfrm>
            <a:off x="5991148" y="2157984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04" name="Picture 15403" descr="ey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238451"/>
            <a:ext cx="204825" cy="204825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6411772" y="2139696"/>
            <a:ext cx="8613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6000292" y="2615184"/>
            <a:ext cx="12454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Know what is around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5982004" y="290779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Surroundings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5982004" y="327355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Object Finder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5982004" y="363931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Currency Reader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5982004" y="400507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VisionBridge Live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5982004" y="437083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 Voice Call</a:t>
            </a:r>
          </a:p>
        </p:txBody>
      </p:sp>
      <p:sp>
        <p:nvSpPr>
          <p:cNvPr id="15412" name="Rounded Rectangle 15411"/>
          <p:cNvSpPr/>
          <p:nvPr/>
        </p:nvSpPr>
        <p:spPr>
          <a:xfrm>
            <a:off x="7401153" y="2048256"/>
            <a:ext cx="1391716" cy="2688336"/>
          </a:xfrm>
          <a:prstGeom prst="roundRect">
            <a:avLst>
              <a:gd name="adj" fmla="val 657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3" name="Rounded Rectangle 15412"/>
          <p:cNvSpPr/>
          <p:nvPr/>
        </p:nvSpPr>
        <p:spPr>
          <a:xfrm>
            <a:off x="7483449" y="2157984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14" name="Picture 15413" descr="pin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3916" y="2238451"/>
            <a:ext cx="204825" cy="204825"/>
          </a:xfrm>
          <a:prstGeom prst="rect">
            <a:avLst/>
          </a:prstGeom>
        </p:spPr>
      </p:pic>
      <p:sp>
        <p:nvSpPr>
          <p:cNvPr id="15415" name="TextBox 15414"/>
          <p:cNvSpPr txBox="1"/>
          <p:nvPr/>
        </p:nvSpPr>
        <p:spPr>
          <a:xfrm>
            <a:off x="7904073" y="2139696"/>
            <a:ext cx="8613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MOVE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7492593" y="2615184"/>
            <a:ext cx="12454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Find your way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7474305" y="290779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Where Am I?</a:t>
            </a:r>
          </a:p>
        </p:txBody>
      </p:sp>
      <p:sp>
        <p:nvSpPr>
          <p:cNvPr id="15418" name="Rounded Rectangle 15417"/>
          <p:cNvSpPr/>
          <p:nvPr/>
        </p:nvSpPr>
        <p:spPr>
          <a:xfrm>
            <a:off x="7474305" y="327355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Public Transport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7474305" y="363931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Obstacle check</a:t>
            </a:r>
          </a:p>
        </p:txBody>
      </p:sp>
      <p:sp>
        <p:nvSpPr>
          <p:cNvPr id="15420" name="Rounded Rectangle 15419"/>
          <p:cNvSpPr/>
          <p:nvPr/>
        </p:nvSpPr>
        <p:spPr>
          <a:xfrm>
            <a:off x="8893454" y="2048256"/>
            <a:ext cx="1391716" cy="2688336"/>
          </a:xfrm>
          <a:prstGeom prst="roundRect">
            <a:avLst>
              <a:gd name="adj" fmla="val 657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1" name="Rounded Rectangle 15420"/>
          <p:cNvSpPr/>
          <p:nvPr/>
        </p:nvSpPr>
        <p:spPr>
          <a:xfrm>
            <a:off x="8975750" y="2157984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2" name="Picture 15421" descr="shieldche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6217" y="2238451"/>
            <a:ext cx="204825" cy="204825"/>
          </a:xfrm>
          <a:prstGeom prst="rect">
            <a:avLst/>
          </a:prstGeom>
        </p:spPr>
      </p:pic>
      <p:sp>
        <p:nvSpPr>
          <p:cNvPr id="15423" name="TextBox 15422"/>
          <p:cNvSpPr txBox="1"/>
          <p:nvPr/>
        </p:nvSpPr>
        <p:spPr>
          <a:xfrm>
            <a:off x="9396374" y="2139696"/>
            <a:ext cx="8613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STAY SAFE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8984894" y="2615184"/>
            <a:ext cx="12454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Get help fast</a:t>
            </a:r>
          </a:p>
        </p:txBody>
      </p:sp>
      <p:sp>
        <p:nvSpPr>
          <p:cNvPr id="15425" name="Rounded Rectangle 15424"/>
          <p:cNvSpPr/>
          <p:nvPr/>
        </p:nvSpPr>
        <p:spPr>
          <a:xfrm>
            <a:off x="8966606" y="290779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Emergency SOS</a:t>
            </a:r>
          </a:p>
        </p:txBody>
      </p:sp>
      <p:sp>
        <p:nvSpPr>
          <p:cNvPr id="15426" name="Rounded Rectangle 15425"/>
          <p:cNvSpPr/>
          <p:nvPr/>
        </p:nvSpPr>
        <p:spPr>
          <a:xfrm>
            <a:off x="8966606" y="327355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Medicine reminders</a:t>
            </a:r>
          </a:p>
        </p:txBody>
      </p:sp>
      <p:sp>
        <p:nvSpPr>
          <p:cNvPr id="15427" name="Rounded Rectangle 15426"/>
          <p:cNvSpPr/>
          <p:nvPr/>
        </p:nvSpPr>
        <p:spPr>
          <a:xfrm>
            <a:off x="10385755" y="2048256"/>
            <a:ext cx="1391716" cy="2688336"/>
          </a:xfrm>
          <a:prstGeom prst="roundRect">
            <a:avLst>
              <a:gd name="adj" fmla="val 657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8" name="Rounded Rectangle 15427"/>
          <p:cNvSpPr/>
          <p:nvPr/>
        </p:nvSpPr>
        <p:spPr>
          <a:xfrm>
            <a:off x="10468051" y="2157984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9" name="Picture 15428" descr="handheart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8518" y="2238451"/>
            <a:ext cx="204825" cy="204825"/>
          </a:xfrm>
          <a:prstGeom prst="rect">
            <a:avLst/>
          </a:prstGeom>
        </p:spPr>
      </p:pic>
      <p:sp>
        <p:nvSpPr>
          <p:cNvPr id="15430" name="TextBox 15429"/>
          <p:cNvSpPr txBox="1"/>
          <p:nvPr/>
        </p:nvSpPr>
        <p:spPr>
          <a:xfrm>
            <a:off x="10888675" y="2139696"/>
            <a:ext cx="8613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HUMAN HELP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10477195" y="2615184"/>
            <a:ext cx="12454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Reach a real person</a:t>
            </a:r>
          </a:p>
        </p:txBody>
      </p:sp>
      <p:sp>
        <p:nvSpPr>
          <p:cNvPr id="15432" name="Rounded Rectangle 15431"/>
          <p:cNvSpPr/>
          <p:nvPr/>
        </p:nvSpPr>
        <p:spPr>
          <a:xfrm>
            <a:off x="10458907" y="290779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Volunteer video</a:t>
            </a:r>
          </a:p>
        </p:txBody>
      </p:sp>
      <p:sp>
        <p:nvSpPr>
          <p:cNvPr id="15433" name="Rounded Rectangle 15432"/>
          <p:cNvSpPr/>
          <p:nvPr/>
        </p:nvSpPr>
        <p:spPr>
          <a:xfrm>
            <a:off x="10458907" y="3273552"/>
            <a:ext cx="1245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Phone Assistant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4416552" y="4773168"/>
            <a:ext cx="7360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Also on the home screen: </a:t>
            </a: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radio, audiobooks and audio games  ·  start talking with “Vision”, a two-finger double-tap or a shake (optional)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411480" y="5074920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WHAT IS NEW · WHY IT IS DIFFERENT FROM A GENERIC AI APP</a:t>
            </a:r>
          </a:p>
        </p:txBody>
      </p:sp>
      <p:sp>
        <p:nvSpPr>
          <p:cNvPr id="15436" name="Rounded Rectangle 15435"/>
          <p:cNvSpPr/>
          <p:nvPr/>
        </p:nvSpPr>
        <p:spPr>
          <a:xfrm>
            <a:off x="411480" y="5312664"/>
            <a:ext cx="274548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437" name="Rounded Rectangle 15436"/>
          <p:cNvSpPr/>
          <p:nvPr/>
        </p:nvSpPr>
        <p:spPr>
          <a:xfrm>
            <a:off x="539496" y="5440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38" name="Picture 15437" descr="shieldalert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033" y="5533217"/>
            <a:ext cx="235549" cy="235549"/>
          </a:xfrm>
          <a:prstGeom prst="rect">
            <a:avLst/>
          </a:prstGeom>
        </p:spPr>
      </p:pic>
      <p:sp>
        <p:nvSpPr>
          <p:cNvPr id="15439" name="TextBox 15438"/>
          <p:cNvSpPr txBox="1"/>
          <p:nvPr/>
        </p:nvSpPr>
        <p:spPr>
          <a:xfrm>
            <a:off x="1069848" y="5440680"/>
            <a:ext cx="199567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Says “I’m not sure”</a:t>
            </a:r>
          </a:p>
        </p:txBody>
      </p:sp>
      <p:sp>
        <p:nvSpPr>
          <p:cNvPr id="15440" name="TextBox 15439"/>
          <p:cNvSpPr txBox="1"/>
          <p:nvPr/>
        </p:nvSpPr>
        <p:spPr>
          <a:xfrm>
            <a:off x="539496" y="5897880"/>
            <a:ext cx="250774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Photo answers are scored; below the threshold the app says it is unsure.</a:t>
            </a:r>
          </a:p>
        </p:txBody>
      </p:sp>
      <p:sp>
        <p:nvSpPr>
          <p:cNvPr id="15441" name="Rounded Rectangle 15440"/>
          <p:cNvSpPr/>
          <p:nvPr/>
        </p:nvSpPr>
        <p:spPr>
          <a:xfrm>
            <a:off x="3284982" y="5312664"/>
            <a:ext cx="274548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442" name="Rounded Rectangle 15441"/>
          <p:cNvSpPr/>
          <p:nvPr/>
        </p:nvSpPr>
        <p:spPr>
          <a:xfrm>
            <a:off x="3412998" y="5440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43" name="Picture 15442" descr="handheart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5535" y="5533217"/>
            <a:ext cx="235549" cy="235549"/>
          </a:xfrm>
          <a:prstGeom prst="rect">
            <a:avLst/>
          </a:prstGeom>
        </p:spPr>
      </p:pic>
      <p:sp>
        <p:nvSpPr>
          <p:cNvPr id="15444" name="TextBox 15443"/>
          <p:cNvSpPr txBox="1"/>
          <p:nvPr/>
        </p:nvSpPr>
        <p:spPr>
          <a:xfrm>
            <a:off x="3943350" y="5440680"/>
            <a:ext cx="199567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 person, one step away</a:t>
            </a:r>
          </a:p>
        </p:txBody>
      </p:sp>
      <p:sp>
        <p:nvSpPr>
          <p:cNvPr id="15445" name="TextBox 15444"/>
          <p:cNvSpPr txBox="1"/>
          <p:nvPr/>
        </p:nvSpPr>
        <p:spPr>
          <a:xfrm>
            <a:off x="3412998" y="5897880"/>
            <a:ext cx="250774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When the AI is unsure, a sighted volunteer can join on live video.</a:t>
            </a:r>
          </a:p>
        </p:txBody>
      </p:sp>
      <p:sp>
        <p:nvSpPr>
          <p:cNvPr id="15446" name="Rounded Rectangle 15445"/>
          <p:cNvSpPr/>
          <p:nvPr/>
        </p:nvSpPr>
        <p:spPr>
          <a:xfrm>
            <a:off x="6158484" y="5312664"/>
            <a:ext cx="274548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447" name="Rounded Rectangle 15446"/>
          <p:cNvSpPr/>
          <p:nvPr/>
        </p:nvSpPr>
        <p:spPr>
          <a:xfrm>
            <a:off x="6286500" y="5440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48" name="Picture 15447" descr="pillb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9037" y="5533217"/>
            <a:ext cx="235549" cy="235549"/>
          </a:xfrm>
          <a:prstGeom prst="rect">
            <a:avLst/>
          </a:prstGeom>
        </p:spPr>
      </p:pic>
      <p:sp>
        <p:nvSpPr>
          <p:cNvPr id="15449" name="TextBox 15448"/>
          <p:cNvSpPr txBox="1"/>
          <p:nvPr/>
        </p:nvSpPr>
        <p:spPr>
          <a:xfrm>
            <a:off x="6816852" y="5440680"/>
            <a:ext cx="199567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MedSafe for medicine packs</a:t>
            </a:r>
          </a:p>
        </p:txBody>
      </p:sp>
      <p:sp>
        <p:nvSpPr>
          <p:cNvPr id="15450" name="TextBox 15449"/>
          <p:cNvSpPr txBox="1"/>
          <p:nvPr/>
        </p:nvSpPr>
        <p:spPr>
          <a:xfrm>
            <a:off x="6286500" y="5897880"/>
            <a:ext cx="250774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Reads only what is printed on the pack — directions word for word, no medical advice.</a:t>
            </a:r>
          </a:p>
        </p:txBody>
      </p:sp>
      <p:sp>
        <p:nvSpPr>
          <p:cNvPr id="15451" name="Rounded Rectangle 15450"/>
          <p:cNvSpPr/>
          <p:nvPr/>
        </p:nvSpPr>
        <p:spPr>
          <a:xfrm>
            <a:off x="9031986" y="5312664"/>
            <a:ext cx="274548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452" name="Rounded Rectangle 15451"/>
          <p:cNvSpPr/>
          <p:nvPr/>
        </p:nvSpPr>
        <p:spPr>
          <a:xfrm>
            <a:off x="9160002" y="5440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53" name="Picture 15452" descr="languages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2539" y="5533217"/>
            <a:ext cx="235549" cy="235549"/>
          </a:xfrm>
          <a:prstGeom prst="rect">
            <a:avLst/>
          </a:prstGeom>
        </p:spPr>
      </p:pic>
      <p:sp>
        <p:nvSpPr>
          <p:cNvPr id="15454" name="TextBox 15453"/>
          <p:cNvSpPr txBox="1"/>
          <p:nvPr/>
        </p:nvSpPr>
        <p:spPr>
          <a:xfrm>
            <a:off x="9690354" y="5440680"/>
            <a:ext cx="199567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Voice-first, 3 languages</a:t>
            </a:r>
          </a:p>
        </p:txBody>
      </p:sp>
      <p:sp>
        <p:nvSpPr>
          <p:cNvPr id="15455" name="TextBox 15454"/>
          <p:cNvSpPr txBox="1"/>
          <p:nvPr/>
        </p:nvSpPr>
        <p:spPr>
          <a:xfrm>
            <a:off x="9160002" y="5897880"/>
            <a:ext cx="250774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Nirmala UI"/>
              </a:rPr>
              <a:t>English, हिन्दी, मराठी; 50 common commands are matched on the 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28016"/>
            <a:ext cx="8001000" cy="896112"/>
          </a:xfrm>
        </p:spPr>
        <p:txBody>
          <a:bodyPr anchor="ctr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VisionBridge logo badge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E11AC-1566-BF30-CE43-E0EA1B2E9D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17410" name="Picture 17409" descr="VisionBrid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414734"/>
            <a:ext cx="901337" cy="4823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152144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HOW A PHOTO REQUEST WORKS · FROM A SPOKEN SENTENCE TO A SPOKEN ANSWER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502920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4" name="Picture 17413" descr="mic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" y="1561795"/>
            <a:ext cx="204825" cy="204825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923544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21208" y="1920240"/>
            <a:ext cx="151333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Say “Vision…”, point the camera, share GPS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135124" y="1984248"/>
            <a:ext cx="182880" cy="0"/>
          </a:xfrm>
          <a:prstGeom prst="line">
            <a:avLst/>
          </a:prstGeom>
          <a:ln w="2222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2345436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Rounded Rectangle 17418"/>
          <p:cNvSpPr/>
          <p:nvPr/>
        </p:nvSpPr>
        <p:spPr>
          <a:xfrm>
            <a:off x="2436876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smartphon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343" y="1561795"/>
            <a:ext cx="204825" cy="204825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2857500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ANDROID APP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455164" y="1920240"/>
            <a:ext cx="151333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Kotlin + Compose · 50 on-phone voice rules · 15-min memory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069080" y="1984248"/>
            <a:ext cx="182880" cy="0"/>
          </a:xfrm>
          <a:prstGeom prst="line">
            <a:avLst/>
          </a:prstGeom>
          <a:ln w="2222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279392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4370832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6" name="Picture 17425" descr="server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299" y="1561795"/>
            <a:ext cx="204825" cy="204825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4791456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SUPABASE EDGE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389120" y="1920240"/>
            <a:ext cx="151333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20 serverless functions · the Gemini key stays on the server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6003036" y="1984248"/>
            <a:ext cx="182880" cy="0"/>
          </a:xfrm>
          <a:prstGeom prst="line">
            <a:avLst/>
          </a:prstGeom>
          <a:ln w="2222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6213348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1" name="Rounded Rectangle 17430"/>
          <p:cNvSpPr/>
          <p:nvPr/>
        </p:nvSpPr>
        <p:spPr>
          <a:xfrm>
            <a:off x="6304788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2" name="Picture 17431" descr="sparkles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255" y="1561795"/>
            <a:ext cx="204825" cy="204825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725412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GEMINI AI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323076" y="1920240"/>
            <a:ext cx="151333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Image → structured JSON + confidence · 4-model fallback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7936992" y="1984248"/>
            <a:ext cx="182880" cy="0"/>
          </a:xfrm>
          <a:prstGeom prst="line">
            <a:avLst/>
          </a:prstGeom>
          <a:ln w="2222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8147304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37" name="Rounded Rectangle 17436"/>
          <p:cNvSpPr/>
          <p:nvPr/>
        </p:nvSpPr>
        <p:spPr>
          <a:xfrm>
            <a:off x="8238744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1632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8" name="Picture 17437" descr="shieldche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9211" y="1561795"/>
            <a:ext cx="204825" cy="204825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659368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CONFIDENCE GATE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257031" y="1865376"/>
            <a:ext cx="1549908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High score</a:t>
            </a: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→ answer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Low score</a:t>
            </a: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→ don’t guess,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offer a human helper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MedSafe, Surroundings: 0.70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9870948" y="1984248"/>
            <a:ext cx="182880" cy="0"/>
          </a:xfrm>
          <a:prstGeom prst="line">
            <a:avLst/>
          </a:prstGeom>
          <a:ln w="2222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10081260" y="1389888"/>
            <a:ext cx="169621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10172700" y="1481328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4" name="Picture 17443" descr="volum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3167" y="1561795"/>
            <a:ext cx="204825" cy="204825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10593324" y="1481328"/>
            <a:ext cx="11475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10190988" y="1920240"/>
            <a:ext cx="151333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Speech in EN · HI · MR, high-contrast screen, volunteer video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11480" y="2670048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MEDSAFE · THE STRICTEST GATE, APPLIED TO MEDICINE PACKAGING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11480" y="2907791"/>
            <a:ext cx="11365992" cy="2359152"/>
          </a:xfrm>
          <a:prstGeom prst="roundRect">
            <a:avLst>
              <a:gd name="adj" fmla="val 465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9" name="Rounded Rectangle 17448"/>
          <p:cNvSpPr/>
          <p:nvPr/>
        </p:nvSpPr>
        <p:spPr>
          <a:xfrm>
            <a:off x="557784" y="3035808"/>
            <a:ext cx="120700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50" name="Picture 17449" descr="camera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" y="3127248"/>
            <a:ext cx="256032" cy="256032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60120" y="3118103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CAPTURE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49224" y="34381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CameraX photo at maximum quality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1783080" y="3547872"/>
            <a:ext cx="146304" cy="0"/>
          </a:xfrm>
          <a:prstGeom prst="line">
            <a:avLst/>
          </a:prstGeom>
          <a:ln w="19050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1947672" y="3035808"/>
            <a:ext cx="120700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55" name="Picture 17454" descr="smartphone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3127248"/>
            <a:ext cx="256032" cy="256032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2350008" y="3118103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2039112" y="34381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Size check, rotate and compress on the phone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3172968" y="3547872"/>
            <a:ext cx="146304" cy="0"/>
          </a:xfrm>
          <a:prstGeom prst="line">
            <a:avLst/>
          </a:prstGeom>
          <a:ln w="19050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3337560" y="3035808"/>
            <a:ext cx="120700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0" name="Picture 17459" descr="server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0" y="3127248"/>
            <a:ext cx="256032" cy="256032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3739896" y="3118103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3429000" y="34381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Edge Function asks Gemini to read, never infer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4562855" y="3547872"/>
            <a:ext cx="146305" cy="0"/>
          </a:xfrm>
          <a:prstGeom prst="line">
            <a:avLst/>
          </a:prstGeom>
          <a:ln w="19050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ounded Rectangle 17463"/>
          <p:cNvSpPr/>
          <p:nvPr/>
        </p:nvSpPr>
        <p:spPr>
          <a:xfrm>
            <a:off x="4727448" y="3035808"/>
            <a:ext cx="120700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5" name="Picture 17464" descr="file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8888" y="3127248"/>
            <a:ext cx="256032" cy="256032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5129784" y="3118103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STRUCTURE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818888" y="34381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JSON fields + confidence, sanitised server-side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5952744" y="3547872"/>
            <a:ext cx="146304" cy="0"/>
          </a:xfrm>
          <a:prstGeom prst="line">
            <a:avLst/>
          </a:prstGeom>
          <a:ln w="19050">
            <a:solidFill>
              <a:srgbClr val="0369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Rounded Rectangle 17468"/>
          <p:cNvSpPr/>
          <p:nvPr/>
        </p:nvSpPr>
        <p:spPr>
          <a:xfrm>
            <a:off x="6117336" y="3035808"/>
            <a:ext cx="1207008" cy="1024128"/>
          </a:xfrm>
          <a:prstGeom prst="roundRect">
            <a:avLst>
              <a:gd name="adj" fmla="val 7142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0" name="Picture 17469" descr="shieldche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127248"/>
            <a:ext cx="256032" cy="256032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6519672" y="3118103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208776" y="3438144"/>
            <a:ext cx="106070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 CLEAR + name read + confidence ≥ 0.70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557784" y="4151375"/>
            <a:ext cx="67665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PRINTED FIELDS IT CAN READ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557784" y="4389119"/>
            <a:ext cx="9842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Medicine name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1606012" y="4389119"/>
            <a:ext cx="623421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2293441" y="4389119"/>
            <a:ext cx="452199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2809648" y="4389119"/>
            <a:ext cx="110712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Active ingredients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3980779" y="4389119"/>
            <a:ext cx="166468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Printed directions (verbatim)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557784" y="4690871"/>
            <a:ext cx="179720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Expiry date (past dates flagged)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2419000" y="4690871"/>
            <a:ext cx="5739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3056949" y="4690871"/>
            <a:ext cx="105380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Printed warnings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4174759" y="4690871"/>
            <a:ext cx="89590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Manufacturer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5134673" y="4690871"/>
            <a:ext cx="667513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Batch no.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7525512" y="3035808"/>
            <a:ext cx="4105656" cy="804672"/>
          </a:xfrm>
          <a:prstGeom prst="roundRect">
            <a:avLst>
              <a:gd name="adj" fmla="val 909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5" name="Picture 17484" descr="check_15803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240" y="3127248"/>
            <a:ext cx="237744" cy="237744"/>
          </a:xfrm>
          <a:prstGeom prst="rect">
            <a:avLst/>
          </a:prstGeom>
        </p:spPr>
      </p:pic>
      <p:sp>
        <p:nvSpPr>
          <p:cNvPr id="17486" name="TextBox 17485"/>
          <p:cNvSpPr txBox="1"/>
          <p:nvPr/>
        </p:nvSpPr>
        <p:spPr>
          <a:xfrm>
            <a:off x="7946136" y="3108960"/>
            <a:ext cx="36484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PASS → SPEAK AND SHOW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7653528" y="3401568"/>
            <a:ext cx="386791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“Medicine: … Strength: … The packaging says: …”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High-contrast result cards · read aloud · save · daily reminder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7525512" y="3913631"/>
            <a:ext cx="4105656" cy="950976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9" name="Picture 17488" descr="shieldalert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5240" y="4005071"/>
            <a:ext cx="237744" cy="237744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7946136" y="3986783"/>
            <a:ext cx="36484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3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UNSURE → DO NOT GUESS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7653528" y="4261103"/>
            <a:ext cx="386791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“I couldn’t confidently read this medicine packaging. I don’t want to guess. You can try another photo or connect to a human helper.”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Buttons: Try another photo · Connect to human helper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557784" y="5001768"/>
            <a:ext cx="1107338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On screen in MedSafe:  </a:t>
            </a:r>
            <a:r>
              <a:rPr sz="1000" b="0" i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“Assistive packaging reader only. VisionBridge does not diagnose or prescribe. Always follow your doctor’s or pharmacist’s instructions.”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411480" y="5330952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TECHNOLOGY ACTUALLY USED · CHECKED AGAINST THE CURRENT BUILD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411480" y="5559552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ON THE PHONE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1746504" y="5559552"/>
            <a:ext cx="481111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Kotlin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2291623" y="5559552"/>
            <a:ext cx="1078835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Jetpack Compose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3434466" y="5559552"/>
            <a:ext cx="644505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CameraX</a:t>
            </a:r>
          </a:p>
        </p:txBody>
      </p:sp>
      <p:sp>
        <p:nvSpPr>
          <p:cNvPr id="17498" name="Rounded Rectangle 17497"/>
          <p:cNvSpPr/>
          <p:nvPr/>
        </p:nvSpPr>
        <p:spPr>
          <a:xfrm>
            <a:off x="4142980" y="5559552"/>
            <a:ext cx="1114762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SpeechRecognizer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5321750" y="5559552"/>
            <a:ext cx="882163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TextToSpeech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6267922" y="5559552"/>
            <a:ext cx="953373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Fused Location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7285303" y="5559552"/>
            <a:ext cx="1179452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Media3 / ExoPlayer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8528764" y="5559552"/>
            <a:ext cx="1406653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SQLite + AlarmManager</a:t>
            </a:r>
          </a:p>
        </p:txBody>
      </p:sp>
      <p:sp>
        <p:nvSpPr>
          <p:cNvPr id="17503" name="Rounded Rectangle 17502"/>
          <p:cNvSpPr/>
          <p:nvPr/>
        </p:nvSpPr>
        <p:spPr>
          <a:xfrm>
            <a:off x="9999426" y="5559552"/>
            <a:ext cx="720476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minSdk 24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411480" y="5815584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CLOUD BACKEND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1746504" y="5815584"/>
            <a:ext cx="2069494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Supabase Auth (JWT + silent refresh)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3880006" y="5815584"/>
            <a:ext cx="1651009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Postgres + row-level security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5595024" y="5815584"/>
            <a:ext cx="198499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Edge Functions (Deno / TypeScript)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7644022" y="5815584"/>
            <a:ext cx="1946275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Supabase Realtime (call signalling)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411480" y="6071616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AI &amp; CALLS</a:t>
            </a:r>
          </a:p>
        </p:txBody>
      </p:sp>
      <p:sp>
        <p:nvSpPr>
          <p:cNvPr id="17510" name="Rounded Rectangle 17509"/>
          <p:cNvSpPr/>
          <p:nvPr/>
        </p:nvSpPr>
        <p:spPr>
          <a:xfrm>
            <a:off x="1746504" y="6071616"/>
            <a:ext cx="1876841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Gemini API → JSON + confidence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3687353" y="6071616"/>
            <a:ext cx="2015132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Gemini Live API (ephemeral tokens)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5766494" y="6071616"/>
            <a:ext cx="927973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WebRTC video</a:t>
            </a:r>
          </a:p>
        </p:txBody>
      </p:sp>
      <p:sp>
        <p:nvSpPr>
          <p:cNvPr id="17513" name="Rounded Rectangle 17512"/>
          <p:cNvSpPr/>
          <p:nvPr/>
        </p:nvSpPr>
        <p:spPr>
          <a:xfrm>
            <a:off x="6758475" y="6071616"/>
            <a:ext cx="221360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OpenStreetMap Nominatim + Overpass</a:t>
            </a:r>
          </a:p>
        </p:txBody>
      </p:sp>
      <p:sp>
        <p:nvSpPr>
          <p:cNvPr id="17514" name="Rounded Rectangle 17513"/>
          <p:cNvSpPr/>
          <p:nvPr/>
        </p:nvSpPr>
        <p:spPr>
          <a:xfrm>
            <a:off x="9036083" y="6071616"/>
            <a:ext cx="1553716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WhatsApp Cloud API (SOS)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28016"/>
            <a:ext cx="8001000" cy="896112"/>
          </a:xfrm>
        </p:spPr>
        <p:txBody>
          <a:bodyPr anchor="ctr"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VisionBridge logo badge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84D3F-7E9D-4337-3B38-51DC53143EA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17410" name="Picture 17409" descr="VisionBrid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414734"/>
            <a:ext cx="901337" cy="4823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152144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FEASIBLE BECAUSE IT ALREADY RUNS · EVIDENCE FROM THE CURRENT BUILD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371600"/>
            <a:ext cx="2170785" cy="950976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76072" y="1417320"/>
            <a:ext cx="189646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93 / 93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76072" y="1819656"/>
            <a:ext cx="1878177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 tests passing — latest local run, 14 Sep 2026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710281" y="1371600"/>
            <a:ext cx="2170785" cy="950976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874873" y="1417320"/>
            <a:ext cx="189646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PASSED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874873" y="1819656"/>
            <a:ext cx="1878177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End-to-end MedSafe test on a real phone, live backend + Gemini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09083" y="1371600"/>
            <a:ext cx="2170785" cy="950976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173675" y="1417320"/>
            <a:ext cx="189646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EN · HI · MR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173675" y="1819656"/>
            <a:ext cx="1878177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570 UI strings each; replies are spoken in the chosen language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307884" y="1371600"/>
            <a:ext cx="2170785" cy="950976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7472476" y="1417320"/>
            <a:ext cx="189646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472476" y="1819656"/>
            <a:ext cx="1878177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Edge Functions called by the app — AI, SOS, location, audio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606686" y="1371600"/>
            <a:ext cx="2170785" cy="950976"/>
          </a:xfrm>
          <a:prstGeom prst="roundRect">
            <a:avLst>
              <a:gd name="adj" fmla="val 11538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9771278" y="1417320"/>
            <a:ext cx="189646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Android 7.0+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771278" y="1819656"/>
            <a:ext cx="1878177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minSdk 24 — no extra device to buy, carry or charge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2432304"/>
            <a:ext cx="69677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RISKS WE ACTUALLY HAVE  →  WHAT THE BUILD ALREADY DOES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1480" y="2670048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9" name="Picture 17428" descr="alert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752344"/>
            <a:ext cx="219456" cy="219456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13816" y="2670048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Wrong AI answer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2313432" y="2871216"/>
            <a:ext cx="201168" cy="0"/>
          </a:xfrm>
          <a:prstGeom prst="line">
            <a:avLst/>
          </a:prstGeom>
          <a:ln w="1587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2542032" y="2670048"/>
            <a:ext cx="4837176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2651760" y="2670048"/>
            <a:ext cx="46360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Photo results are scored. MedSafe and Surroundings withhold answers below 0.70; Currency and Transport offer a volunteer below 0.65.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11480" y="3118104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5" name="Picture 17434" descr="pillb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200400"/>
            <a:ext cx="219456" cy="219456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813816" y="3118104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Medicine over-trust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2313432" y="3319272"/>
            <a:ext cx="201168" cy="0"/>
          </a:xfrm>
          <a:prstGeom prst="line">
            <a:avLst/>
          </a:prstGeom>
          <a:ln w="1587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2542032" y="3118104"/>
            <a:ext cx="4837176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2651760" y="3118104"/>
            <a:ext cx="46360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Printed text only — no diagnosis, dosing or suitability advice. Disclaimer in 3 languages; expired packs → “consult a pharmacist”.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3566160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1" name="Picture 17440" descr="refresh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648456"/>
            <a:ext cx="219456" cy="21945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813816" y="3566160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 quota or outage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2313432" y="3767328"/>
            <a:ext cx="201168" cy="0"/>
          </a:xfrm>
          <a:prstGeom prst="line">
            <a:avLst/>
          </a:prstGeom>
          <a:ln w="1587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2542032" y="3566160"/>
            <a:ext cx="4837176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2651760" y="3566160"/>
            <a:ext cx="46360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Four Gemini models are tried in order within one request; the user hears a clear error and can retry.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11480" y="4014216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7" name="Picture 17446" descr="wifioff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" y="4096512"/>
            <a:ext cx="219456" cy="21945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813816" y="4014216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No internet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2313432" y="4215384"/>
            <a:ext cx="201168" cy="0"/>
          </a:xfrm>
          <a:prstGeom prst="line">
            <a:avLst/>
          </a:prstGeom>
          <a:ln w="1587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2542032" y="4014216"/>
            <a:ext cx="4837176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2651760" y="4014216"/>
            <a:ext cx="46360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Stated limit: AI features need a connection. Saved medicines and reminder alarms are stored on the phone and keep working offline.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11480" y="4462272"/>
            <a:ext cx="1874519" cy="402336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3" name="Picture 17452" descr="usercheck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" y="4544568"/>
            <a:ext cx="219456" cy="219456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13816" y="4462272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Volunteer trust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2313432" y="4663440"/>
            <a:ext cx="201168" cy="0"/>
          </a:xfrm>
          <a:prstGeom prst="line">
            <a:avLst/>
          </a:prstGeom>
          <a:ln w="15875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2542032" y="4462272"/>
            <a:ext cx="4837176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2651760" y="4462272"/>
            <a:ext cx="46360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Volunteers self-register today — a verified network is future scope. The video call starts only when a volunteer accepts.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580376" y="2432304"/>
            <a:ext cx="4197096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PRIVACY AND SECURITY ALREADY IN PLACE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580376" y="2670048"/>
            <a:ext cx="4197096" cy="21945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7460" name="Picture 17459" descr="key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4968" y="2852928"/>
            <a:ext cx="219456" cy="219456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8055864" y="2816352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Gemini API key kept only in server secrets</a:t>
            </a:r>
          </a:p>
        </p:txBody>
      </p:sp>
      <p:pic>
        <p:nvPicPr>
          <p:cNvPr id="17462" name="Picture 17461" descr="lo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4968" y="3182112"/>
            <a:ext cx="219456" cy="21945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8055864" y="3145536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Gemini Live runs on short-lived ephemeral tokens</a:t>
            </a:r>
          </a:p>
        </p:txBody>
      </p:sp>
      <p:pic>
        <p:nvPicPr>
          <p:cNvPr id="17464" name="Picture 17463" descr="databas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4968" y="3511296"/>
            <a:ext cx="219456" cy="219456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8055864" y="3474720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Row-level security on all 13 tables (44 policies)</a:t>
            </a:r>
          </a:p>
        </p:txBody>
      </p:sp>
      <p:pic>
        <p:nvPicPr>
          <p:cNvPr id="17466" name="Picture 17465" descr="usercheck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4968" y="3840480"/>
            <a:ext cx="219456" cy="219456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8055864" y="3803904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Users cannot promote themselves to admin</a:t>
            </a:r>
          </a:p>
        </p:txBody>
      </p:sp>
      <p:pic>
        <p:nvPicPr>
          <p:cNvPr id="17468" name="Picture 17467" descr="bell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4968" y="4169664"/>
            <a:ext cx="219456" cy="219456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8055864" y="4133088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Medicine reminders stay private on the lock screen</a:t>
            </a:r>
          </a:p>
        </p:txBody>
      </p:sp>
      <p:pic>
        <p:nvPicPr>
          <p:cNvPr id="17470" name="Picture 17469" descr="video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44968" y="4498848"/>
            <a:ext cx="219456" cy="219456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8055864" y="4462272"/>
            <a:ext cx="363016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Volunteer sees the user’s camera; theirs stays off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411480" y="4937760"/>
            <a:ext cx="11365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VIABLE:  </a:t>
            </a:r>
            <a:r>
              <a:rPr sz="105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runs on phones people already own  ·  managed, pay-as-you-go cloud  ·  modular — MedSafe was added as its own screens, Edge Function and tables without changing other assistants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411480" y="5230368"/>
            <a:ext cx="5609844" cy="1042415"/>
          </a:xfrm>
          <a:prstGeom prst="roundRect">
            <a:avLst>
              <a:gd name="adj" fmla="val 8771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4" name="Picture 17473" descr="check_15803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96" y="5303520"/>
            <a:ext cx="237744" cy="237744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850392" y="5285231"/>
            <a:ext cx="506120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40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IMPLEMENTED TODAY · IN THE ANDROID BUILD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557784" y="5577840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All assistants on slide 2, incl. MedSafe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3225546" y="5577840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Confidence gate + volunteer video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557784" y="5801868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Gemini Live: real-time camera + voice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3225546" y="5801868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Voice and UI in EN · HI · MR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557784" y="6025896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SOS with WhatsApp location alert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3225546" y="6025896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Offline medicine list + reminder alarms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6167628" y="5230368"/>
            <a:ext cx="5609844" cy="1042415"/>
          </a:xfrm>
          <a:prstGeom prst="roundRect">
            <a:avLst>
              <a:gd name="adj" fmla="val 877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83" name="Picture 17482" descr="clock_33415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5644" y="5303520"/>
            <a:ext cx="237744" cy="237744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6606540" y="5285231"/>
            <a:ext cx="506120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4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FUTURE SCOPE · NOT BUILT YET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6313932" y="5577840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Offline obstacle warnings on the phone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981694" y="5577840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Continuous hazard alerts while walking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6313932" y="5801868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Verified volunteer network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8981694" y="5801868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More Indian languages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6313932" y="6025896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Field study with low-vision users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8981694" y="6025896"/>
            <a:ext cx="262204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Font typeface="Arial"/>
              <a:buChar char="•"/>
            </a:pP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Pharmacist-reviewed MedSafe accuracy tests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28016"/>
            <a:ext cx="8001000" cy="896112"/>
          </a:xfrm>
        </p:spPr>
        <p:txBody>
          <a:bodyPr anchor="ctr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VisionBridge logo badge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20761-0845-7A4C-428F-8CADF24DC8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17410" name="Picture 17409" descr="VisionBrid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414734"/>
            <a:ext cx="901337" cy="482356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170432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557784" y="1316736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1632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3" name="Picture 17412" descr="users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61" y="1433413"/>
            <a:ext cx="296997" cy="296997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234440" y="1188720"/>
            <a:ext cx="46177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 spc="6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WHO BENEFITS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People with low vision or blindness who use Android phones — plus their families, caregivers and the volunteers who help remotely.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17336" y="1170432"/>
            <a:ext cx="276606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6263640" y="1197864"/>
            <a:ext cx="24917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2.2 billion+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1554480"/>
            <a:ext cx="251002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people worldwide have a near or distance vision impairment · WHO, 2026 [1]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011412" y="1170432"/>
            <a:ext cx="276606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9157716" y="1197864"/>
            <a:ext cx="24917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26.68%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157716" y="1554480"/>
            <a:ext cx="251002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of people aged 50+ in India have visual impairment · national survey, 2015–19 [2]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1480" y="2121408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ONE REAL MOMENT · 8:30 PM, AT HOME, A MEDICINE STRIP IN HAND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2359152"/>
            <a:ext cx="2926080" cy="1993392"/>
          </a:xfrm>
          <a:prstGeom prst="roundRect">
            <a:avLst>
              <a:gd name="adj" fmla="val 5504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3" name="Picture 17422" descr="x_B91C1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2487168"/>
            <a:ext cx="256032" cy="25603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886968" y="24688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WITHOUT VISIONBRIDGE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76072" y="2816352"/>
            <a:ext cx="2651760" cy="1426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46304" indent="-146304">
              <a:spcBef>
                <a:spcPts val="0"/>
              </a:spcBef>
              <a:spcAft>
                <a:spcPts val="800"/>
              </a:spcAft>
              <a:buClr>
                <a:srgbClr val="B91C1C"/>
              </a:buClr>
              <a:buFont typeface="Arial"/>
              <a:buChar char="•"/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The print is too small to read</a:t>
            </a:r>
          </a:p>
          <a:p>
            <a:pPr algn="l" marL="146304" indent="-146304">
              <a:spcBef>
                <a:spcPts val="0"/>
              </a:spcBef>
              <a:spcAft>
                <a:spcPts val="800"/>
              </a:spcAft>
              <a:buClr>
                <a:srgbClr val="B91C1C"/>
              </a:buClr>
              <a:buFont typeface="Arial"/>
              <a:buChar char="•"/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Waits for family — or guesses</a:t>
            </a:r>
          </a:p>
          <a:p>
            <a:pPr algn="l" marL="146304" indent="-146304">
              <a:spcBef>
                <a:spcPts val="0"/>
              </a:spcBef>
              <a:spcAft>
                <a:spcPts val="800"/>
              </a:spcAft>
              <a:buClr>
                <a:srgbClr val="B91C1C"/>
              </a:buClr>
              <a:buFont typeface="Arial"/>
              <a:buChar char="•"/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Expiry and directions stay unknown</a:t>
            </a:r>
          </a:p>
          <a:p>
            <a:pPr algn="l" marL="146304" indent="-146304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Font typeface="Arial"/>
              <a:buChar char="•"/>
            </a:pPr>
            <a:r>
              <a:rPr sz="11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Dose times rely on memory or family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3392424" y="3355848"/>
            <a:ext cx="219456" cy="0"/>
          </a:xfrm>
          <a:prstGeom prst="line">
            <a:avLst/>
          </a:prstGeom>
          <a:ln w="28575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3666744" y="2359152"/>
            <a:ext cx="8110728" cy="199339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7428" name="Picture 17427" descr="check_15803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048" y="2487168"/>
            <a:ext cx="256032" cy="256032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4142232" y="2468880"/>
            <a:ext cx="7562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WITH VISIONBRIDGE MEDSAFE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813048" y="2871216"/>
            <a:ext cx="1844802" cy="1353312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3922776" y="2980944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pic>
        <p:nvPicPr>
          <p:cNvPr id="17432" name="Picture 17431" descr="mic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3802" y="2999232"/>
            <a:ext cx="274320" cy="27432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922776" y="3346704"/>
            <a:ext cx="16619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Asks by voice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922776" y="3602736"/>
            <a:ext cx="166192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“Vision, check my medicine.” MedSafe opens — in English, Hindi or Marathi.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804154" y="2871216"/>
            <a:ext cx="1844802" cy="1353312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5913882" y="2980944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17437" name="Picture 17436" descr="camera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908" y="2999232"/>
            <a:ext cx="274320" cy="27432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913882" y="3346704"/>
            <a:ext cx="16619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Hears the pack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913882" y="3602736"/>
            <a:ext cx="166192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Name, strength, printed directions and expiry are read out; past dates are flagged.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795260" y="2871216"/>
            <a:ext cx="1844802" cy="1353312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1" name="Oval 17440"/>
          <p:cNvSpPr/>
          <p:nvPr/>
        </p:nvSpPr>
        <p:spPr>
          <a:xfrm>
            <a:off x="7904988" y="2980944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>
        <p:nvPicPr>
          <p:cNvPr id="17442" name="Picture 17441" descr="alarm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6014" y="2999232"/>
            <a:ext cx="274320" cy="27432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7904988" y="3346704"/>
            <a:ext cx="16619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Saves and schedules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904988" y="3602736"/>
            <a:ext cx="166192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Adds it to My Medicines with a 9:00 PM daily reminder that works offline.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786366" y="2871216"/>
            <a:ext cx="1844802" cy="1353312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9896094" y="2980944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17447" name="Picture 17446" descr="handheart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2999232"/>
            <a:ext cx="274320" cy="27432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9896094" y="3346704"/>
            <a:ext cx="16619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Never a guess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896094" y="3602736"/>
            <a:ext cx="166192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Blurry photo? “I don’t want to guess.” Try again or connect a volunteer.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11480" y="4480559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WHAT CHANGES · SOCIAL, HEALTH, SAFETY, ECONOMIC AND ENVIRONMENTAL BENEFITS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1148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521208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SOCIAL</a:t>
            </a:r>
          </a:p>
        </p:txBody>
      </p:sp>
      <p:pic>
        <p:nvPicPr>
          <p:cNvPr id="17453" name="Picture 17452" descr="walk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6900" y="4791455"/>
            <a:ext cx="237744" cy="237744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521208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Independence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21208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Read, travel and check money without waiting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232410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2433828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SOCIAL</a:t>
            </a:r>
          </a:p>
        </p:txBody>
      </p:sp>
      <p:pic>
        <p:nvPicPr>
          <p:cNvPr id="17458" name="Picture 17457" descr="languages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9520" y="4791455"/>
            <a:ext cx="237744" cy="237744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2433828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Inclusion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2433828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Voice-first in 3 languages, high-contrast UI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423672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4346448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HEALTH</a:t>
            </a:r>
          </a:p>
        </p:txBody>
      </p:sp>
      <p:pic>
        <p:nvPicPr>
          <p:cNvPr id="17463" name="Picture 17462" descr="heartpulse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4791455"/>
            <a:ext cx="237744" cy="23774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4346448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Safer medicine routine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346448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Printed info + reminders — never advice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614934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6259068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SAFETY</a:t>
            </a:r>
          </a:p>
        </p:txBody>
      </p:sp>
      <p:pic>
        <p:nvPicPr>
          <p:cNvPr id="17468" name="Picture 17467" descr="siren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4760" y="4791455"/>
            <a:ext cx="237744" cy="23774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259068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Human safety net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6259068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Volunteer video and SOS with live location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806196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8171687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ECONOMIC</a:t>
            </a:r>
          </a:p>
        </p:txBody>
      </p:sp>
      <p:pic>
        <p:nvPicPr>
          <p:cNvPr id="17473" name="Picture 17472" descr="rupee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17380" y="4791455"/>
            <a:ext cx="237744" cy="237744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8171687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Low cost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171687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Runs on the Android phone the user already has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9974580" y="4718303"/>
            <a:ext cx="1802892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10084308" y="4782312"/>
            <a:ext cx="13456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pic>
        <p:nvPicPr>
          <p:cNvPr id="17478" name="Picture 17477" descr="leaf_0369A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0000" y="4791455"/>
            <a:ext cx="237744" cy="237744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10084308" y="5001767"/>
            <a:ext cx="162001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No new device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10084308" y="5230367"/>
            <a:ext cx="16200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Nothing extra to make, charge or throw away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411480" y="5724144"/>
            <a:ext cx="7735824" cy="54864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2" name="Picture 17481" descr="ban_B45309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9496" y="5879592"/>
            <a:ext cx="237744" cy="237744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868680" y="5724144"/>
            <a:ext cx="716889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WE DO NOT CLAIM:  </a:t>
            </a:r>
            <a:r>
              <a:rPr sz="1050" b="0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clinical validation or regulatory approval · diagnosis, prescribing or dosing advice · guaranteed obstacle detection · accuracy or user-count figures · replacing a doctor, pharmacist, cane or guide.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8275319" y="5724144"/>
            <a:ext cx="3502152" cy="548640"/>
          </a:xfrm>
          <a:prstGeom prst="roundRect">
            <a:avLst>
              <a:gd name="adj" fmla="val 16666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 wrap="square" lIns="109728" tIns="18288" rIns="10972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what is printed. </a:t>
            </a:r>
            <a:r>
              <a:rPr sz="1300" b="1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Don’t guess what isn’t.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28016"/>
            <a:ext cx="8001000" cy="896112"/>
          </a:xfrm>
        </p:spPr>
        <p:txBody>
          <a:bodyPr anchor="ctr"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VisionBridge logo badge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A5109-B504-4166-7DFE-76055D9D80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66" y="87362"/>
            <a:ext cx="2249850" cy="1062337"/>
          </a:xfrm>
          <a:prstGeom prst="rect">
            <a:avLst/>
          </a:prstGeom>
        </p:spPr>
      </p:pic>
      <p:pic>
        <p:nvPicPr>
          <p:cNvPr id="17410" name="Picture 17409" descr="VisionBridg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414734"/>
            <a:ext cx="901337" cy="4823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15214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SEE IT · TRY IT · VERIFY IT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983480" y="1152144"/>
            <a:ext cx="6793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VisionBridge  ·  Team Prime Innovators  ·  Team ID 135775  ·  PS ID 26198</a:t>
            </a:r>
          </a:p>
        </p:txBody>
      </p:sp>
      <p:sp>
        <p:nvSpPr>
          <p:cNvPr id="17413" name="Rounded Rectangle 17412">
            <a:hlinkClick r:id="rId5"/>
          </p:cNvPr>
          <p:cNvSpPr/>
          <p:nvPr/>
        </p:nvSpPr>
        <p:spPr>
          <a:xfrm>
            <a:off x="411480" y="1389888"/>
            <a:ext cx="28072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576072" y="1554480"/>
            <a:ext cx="493776" cy="493776"/>
          </a:xfrm>
          <a:prstGeom prst="roundRect">
            <a:avLst>
              <a:gd name="adj" fmla="val 23999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5" name="Picture 17414" descr="youtub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2" y="1663110"/>
            <a:ext cx="276514" cy="27651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197864" y="1536192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Demo video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197864" y="1810512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Watch VisionBridge in action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76072" y="2176272"/>
            <a:ext cx="2532888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5"/>
              </a:rPr>
              <a:t>youtu.be/ok7P_i5SeR4</a:t>
            </a:r>
          </a:p>
        </p:txBody>
      </p:sp>
      <p:sp>
        <p:nvSpPr>
          <p:cNvPr id="17419" name="Rounded Rectangle 17418">
            <a:hlinkClick r:id="rId7"/>
          </p:cNvPr>
          <p:cNvSpPr/>
          <p:nvPr/>
        </p:nvSpPr>
        <p:spPr>
          <a:xfrm>
            <a:off x="3346704" y="1389888"/>
            <a:ext cx="28072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20" name="Rounded Rectangle 17419"/>
          <p:cNvSpPr/>
          <p:nvPr/>
        </p:nvSpPr>
        <p:spPr>
          <a:xfrm>
            <a:off x="3511296" y="1554480"/>
            <a:ext cx="493776" cy="493776"/>
          </a:xfrm>
          <a:prstGeom prst="roundRect">
            <a:avLst>
              <a:gd name="adj" fmla="val 23999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1" name="Picture 17420" descr="github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926" y="1663110"/>
            <a:ext cx="276514" cy="276514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4133088" y="1536192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Android source code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133088" y="1810512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Kotlin app + Supabase backend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511296" y="2176272"/>
            <a:ext cx="2532888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7"/>
              </a:rPr>
              <a:t>github.com/shailesh-pande01/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7"/>
              </a:rPr>
              <a:t>visionbridge-app</a:t>
            </a:r>
          </a:p>
        </p:txBody>
      </p:sp>
      <p:sp>
        <p:nvSpPr>
          <p:cNvPr id="17425" name="Rounded Rectangle 17424">
            <a:hlinkClick r:id="rId9"/>
          </p:cNvPr>
          <p:cNvSpPr/>
          <p:nvPr/>
        </p:nvSpPr>
        <p:spPr>
          <a:xfrm>
            <a:off x="6281928" y="1389888"/>
            <a:ext cx="28072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26" name="Rounded Rectangle 17425"/>
          <p:cNvSpPr/>
          <p:nvPr/>
        </p:nvSpPr>
        <p:spPr>
          <a:xfrm>
            <a:off x="6446520" y="1554480"/>
            <a:ext cx="493776" cy="493776"/>
          </a:xfrm>
          <a:prstGeom prst="roundRect">
            <a:avLst>
              <a:gd name="adj" fmla="val 23999"/>
            </a:avLst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7" name="Picture 17426" descr="globe_00D4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150" y="1663110"/>
            <a:ext cx="276514" cy="276514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7068312" y="1536192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Earlier web prototype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068312" y="1810512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Browser version built before the Android app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46520" y="2176272"/>
            <a:ext cx="2532888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9"/>
              </a:rPr>
              <a:t>visionbridge-ai.vercel.app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217152" y="1389888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>
            <a:outerShdw blurRad="63500" dist="19050" dir="5400000" algn="t" rotWithShape="0">
              <a:srgbClr val="0F172A">
                <a:alpha val="14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9363456" y="1572768"/>
            <a:ext cx="104241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3" name="Picture 17432" descr="QR code linking to the VisionBridge demo video on YouTube">
            <a:hlinkClick r:id="rId5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0032" y="1609344"/>
            <a:ext cx="969264" cy="96926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552176" y="1572768"/>
            <a:ext cx="1115567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Scan to watch the demo video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or click the code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1480" y="2907792"/>
            <a:ext cx="113659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RESEARCH BEHIND THE IDEA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11480" y="3145536"/>
            <a:ext cx="5618988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539496" y="3273552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78408" y="3209544"/>
            <a:ext cx="492404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2.2 billion+ people live with a near or distance vision impairment.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World Health Organization — “Blindness and vision impairment” fact sheet, updated 10 Feb 2026.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2"/>
              </a:rPr>
              <a:t>who.int/news-room/fact-sheets/detail/blindness-and-visual-impairment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58484" y="3145536"/>
            <a:ext cx="5618988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6286500" y="3273552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725412" y="3209544"/>
            <a:ext cx="492404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India, age 50+: visual impairment 26.68%, blindness 1.99%.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Vashist P. et al. National Blindness &amp; Visual Impairment Survey 2015–19. PLOS ONE, 2022.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3"/>
              </a:rPr>
              <a:t>doi.org/10.1371/journal.pone.0271736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11480" y="4151376"/>
            <a:ext cx="5618988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539496" y="4279392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78408" y="4215384"/>
            <a:ext cx="492404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Simulated moderate vision loss: 81% could not access medicine names and doses; 75% missed the full expiry date.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Merenda T., Depasse F., Patris S. Explor. Res. Clin. Soc. Pharm. 18:100581, 2025.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4"/>
              </a:rPr>
              <a:t>doi.org/10.1016/j.rcsop.2025.100581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158484" y="4151376"/>
            <a:ext cx="5618988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6286500" y="4279392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725412" y="4215384"/>
            <a:ext cx="492404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Blindness and low vision are specified disabilities under Indian law.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Rights of Persons with Disabilities Act, 2016 — Dept. of Empowerment of Persons with Disabilities.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5"/>
              </a:rPr>
              <a:t>depwd.gov.in/en/acts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411480" y="517550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OFFICIAL DOCUMENTATION FOR THE COMPONENTS USED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812280" y="5175504"/>
            <a:ext cx="496519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All links checked on 16 Sep 2026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11480" y="5413248"/>
            <a:ext cx="3703320" cy="859536"/>
          </a:xfrm>
          <a:prstGeom prst="roundRect">
            <a:avLst>
              <a:gd name="adj" fmla="val 10638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557784" y="54681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ANDROID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557784" y="575614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667512" y="5687568"/>
            <a:ext cx="156819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6"/>
              </a:rPr>
              <a:t>CameraX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2272284" y="575614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2382012" y="5687568"/>
            <a:ext cx="156819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7"/>
              </a:rPr>
              <a:t>SpeechRecognizer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557784" y="593902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667512" y="5870448"/>
            <a:ext cx="156819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8"/>
              </a:rPr>
              <a:t>TextToSpeech</a:t>
            </a:r>
          </a:p>
        </p:txBody>
      </p:sp>
      <p:sp>
        <p:nvSpPr>
          <p:cNvPr id="17458" name="Oval 17457"/>
          <p:cNvSpPr/>
          <p:nvPr/>
        </p:nvSpPr>
        <p:spPr>
          <a:xfrm>
            <a:off x="2272284" y="593902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2382012" y="5870448"/>
            <a:ext cx="156819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19"/>
              </a:rPr>
              <a:t>Jetpack Compose</a:t>
            </a:r>
          </a:p>
        </p:txBody>
      </p:sp>
      <p:sp>
        <p:nvSpPr>
          <p:cNvPr id="17460" name="Oval 17459"/>
          <p:cNvSpPr/>
          <p:nvPr/>
        </p:nvSpPr>
        <p:spPr>
          <a:xfrm>
            <a:off x="557784" y="612190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667512" y="6053328"/>
            <a:ext cx="156819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0"/>
              </a:rPr>
              <a:t>Scheduling alarms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4242816" y="5413248"/>
            <a:ext cx="2468880" cy="859536"/>
          </a:xfrm>
          <a:prstGeom prst="roundRect">
            <a:avLst>
              <a:gd name="adj" fmla="val 10638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4389120" y="546811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GEMINI AI</a:t>
            </a:r>
          </a:p>
        </p:txBody>
      </p:sp>
      <p:sp>
        <p:nvSpPr>
          <p:cNvPr id="17464" name="Oval 17463"/>
          <p:cNvSpPr/>
          <p:nvPr/>
        </p:nvSpPr>
        <p:spPr>
          <a:xfrm>
            <a:off x="4389120" y="575614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4498848" y="5687568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1"/>
              </a:rPr>
              <a:t>Structured JSON output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4389120" y="593902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4498848" y="5870448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2"/>
              </a:rPr>
              <a:t>Live API</a:t>
            </a:r>
          </a:p>
        </p:txBody>
      </p:sp>
      <p:sp>
        <p:nvSpPr>
          <p:cNvPr id="17468" name="Oval 17467"/>
          <p:cNvSpPr/>
          <p:nvPr/>
        </p:nvSpPr>
        <p:spPr>
          <a:xfrm>
            <a:off x="4389120" y="612190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4498848" y="6053328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3"/>
              </a:rPr>
              <a:t>Ephemeral tokens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839712" y="5413248"/>
            <a:ext cx="4937760" cy="859536"/>
          </a:xfrm>
          <a:prstGeom prst="roundRect">
            <a:avLst>
              <a:gd name="adj" fmla="val 10638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6986016" y="5468112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BACKEND AND SERVICES</a:t>
            </a:r>
          </a:p>
        </p:txBody>
      </p:sp>
      <p:sp>
        <p:nvSpPr>
          <p:cNvPr id="17472" name="Oval 17471"/>
          <p:cNvSpPr/>
          <p:nvPr/>
        </p:nvSpPr>
        <p:spPr>
          <a:xfrm>
            <a:off x="6986016" y="575614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3" name="TextBox 17472"/>
          <p:cNvSpPr txBox="1"/>
          <p:nvPr/>
        </p:nvSpPr>
        <p:spPr>
          <a:xfrm>
            <a:off x="7095744" y="568756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4"/>
              </a:rPr>
              <a:t>Supabase row-level security</a:t>
            </a:r>
          </a:p>
        </p:txBody>
      </p:sp>
      <p:sp>
        <p:nvSpPr>
          <p:cNvPr id="17474" name="Oval 17473"/>
          <p:cNvSpPr/>
          <p:nvPr/>
        </p:nvSpPr>
        <p:spPr>
          <a:xfrm>
            <a:off x="9317736" y="575614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9427464" y="568756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5"/>
              </a:rPr>
              <a:t>Edge Functions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6986016" y="593902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7095744" y="587044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6"/>
              </a:rPr>
              <a:t>Realtime</a:t>
            </a:r>
          </a:p>
        </p:txBody>
      </p:sp>
      <p:sp>
        <p:nvSpPr>
          <p:cNvPr id="17478" name="Oval 17477"/>
          <p:cNvSpPr/>
          <p:nvPr/>
        </p:nvSpPr>
        <p:spPr>
          <a:xfrm>
            <a:off x="9317736" y="593902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9427464" y="587044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7"/>
              </a:rPr>
              <a:t>WebRTC</a:t>
            </a:r>
          </a:p>
        </p:txBody>
      </p:sp>
      <p:sp>
        <p:nvSpPr>
          <p:cNvPr id="17480" name="Oval 17479"/>
          <p:cNvSpPr/>
          <p:nvPr/>
        </p:nvSpPr>
        <p:spPr>
          <a:xfrm>
            <a:off x="6986016" y="612190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7095744" y="605332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8"/>
              </a:rPr>
              <a:t>Nominatim reverse geocoding</a:t>
            </a:r>
          </a:p>
        </p:txBody>
      </p:sp>
      <p:sp>
        <p:nvSpPr>
          <p:cNvPr id="17482" name="Oval 17481"/>
          <p:cNvSpPr/>
          <p:nvPr/>
        </p:nvSpPr>
        <p:spPr>
          <a:xfrm>
            <a:off x="9317736" y="6121907"/>
            <a:ext cx="45720" cy="4572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9427464" y="6053328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0369A1"/>
                </a:solidFill>
                <a:latin typeface="Calibri"/>
                <a:ea typeface="Calibri"/>
                <a:cs typeface="Calibri"/>
                <a:hlinkClick r:id="rId29"/>
              </a:rPr>
              <a:t>WhatsApp Cloud API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369A1"/>
      </a:hlink>
      <a:folHlink>
        <a:srgbClr val="6D28D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1768</Words>
  <Application>Microsoft Office PowerPoint</Application>
  <PresentationFormat>Widescreen</PresentationFormat>
  <Paragraphs>250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 /  PROPOSED SOLUTION </vt:lpstr>
      <vt:lpstr>TECHNICAL APPROACH</vt:lpstr>
      <vt:lpstr>KEY FEATURES AND INNOVATION</vt:lpstr>
      <vt:lpstr>IMPACT AND BENEFITS</vt:lpstr>
      <vt:lpstr>FEASIBILITY, FUTURE SCOPE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VisionBridge — SIH 2026 Idea Submission (Team 135775)</dc:title>
  <dc:subject>Smart India Hackathon 2026 · PS 26198 · Student Innovation · MedTech / BioTech / HealthTech</dc:subject>
  <dc:creator>Prime Innovators</dc:creator>
  <cp:keywords>VisionBridge; MedSafe; accessibility; low vision; Android; SIH 2026</cp:keywords>
  <dc:description/>
  <cp:lastModifiedBy>Prime Innovators</cp:lastModifiedBy>
  <cp:revision>1</cp:revision>
  <dcterms:created xsi:type="dcterms:W3CDTF">2013-12-12T18:46:50Z</dcterms:created>
  <dcterms:modified xsi:type="dcterms:W3CDTF">2026-09-16T13:00:00Z</dcterms:modified>
  <cp:category>Software</cp:category>
</cp:coreProperties>
</file>